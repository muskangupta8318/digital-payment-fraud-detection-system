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notesMasterIdLst>
    <p:notesMasterId r:id="rId12"/>
  </p:notesMasterIdLst>
  <p:handoutMasterIdLst>
    <p:handoutMasterId r:id="rId13"/>
  </p:handoutMasterIdLst>
  <p:sldIdLst>
    <p:sldId id="259" r:id="rId2"/>
    <p:sldId id="505" r:id="rId3"/>
    <p:sldId id="510" r:id="rId4"/>
    <p:sldId id="509" r:id="rId5"/>
    <p:sldId id="507" r:id="rId6"/>
    <p:sldId id="508" r:id="rId7"/>
    <p:sldId id="506" r:id="rId8"/>
    <p:sldId id="512" r:id="rId9"/>
    <p:sldId id="513" r:id="rId10"/>
    <p:sldId id="482" r:id="rId11"/>
  </p:sldIdLst>
  <p:sldSz cx="9144000" cy="6858000" type="screen4x3"/>
  <p:notesSz cx="6858000" cy="9144000"/>
  <p:custDataLst>
    <p:tags r:id="rId14"/>
  </p:custDataLst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9F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38" autoAdjust="0"/>
    <p:restoredTop sz="86797" autoAdjust="0"/>
  </p:normalViewPr>
  <p:slideViewPr>
    <p:cSldViewPr>
      <p:cViewPr varScale="1">
        <p:scale>
          <a:sx n="82" d="100"/>
          <a:sy n="82" d="100"/>
        </p:scale>
        <p:origin x="142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0" d="100"/>
          <a:sy n="80" d="100"/>
        </p:scale>
        <p:origin x="391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E73F697-B00D-4FFC-8F1C-803F38F7D87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617C8B-2146-452F-BA1A-94C836CEAF7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B4AAA6-767F-4839-849C-8C653382D845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0C92CC-175A-4CD3-8D40-D9647643F2F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B48F31-881A-46B5-93F9-FC633D4FF8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1EBA2D-2A9A-4682-BB3F-F42E6B8972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152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E4E18B-DFF3-4B0D-8276-DB13269D823A}" type="datetimeFigureOut">
              <a:rPr lang="en-US" smtClean="0"/>
              <a:pPr/>
              <a:t>5/22/2026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38BDC0-1E05-4A86-9E10-3C5AEE1881B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02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8" name="Google Shape;11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8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wearing a red shirt&#10;&#10;Description automatically generated with low confidence">
            <a:extLst>
              <a:ext uri="{FF2B5EF4-FFF2-40B4-BE49-F238E27FC236}">
                <a16:creationId xmlns:a16="http://schemas.microsoft.com/office/drawing/2014/main" id="{C79E3F48-C719-0D96-04DC-0676BFEA26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111" y="278587"/>
            <a:ext cx="8437778" cy="6300826"/>
          </a:xfrm>
          <a:prstGeom prst="rect">
            <a:avLst/>
          </a:prstGeom>
        </p:spPr>
      </p:pic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EE773701-A15A-67DF-7678-31E962440BBE}"/>
              </a:ext>
            </a:extLst>
          </p:cNvPr>
          <p:cNvSpPr/>
          <p:nvPr userDrawn="1"/>
        </p:nvSpPr>
        <p:spPr>
          <a:xfrm>
            <a:off x="4788024" y="1700808"/>
            <a:ext cx="2952328" cy="2952328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A7BF1437-C25B-D446-BEE1-396D1CEE94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873" y="2407801"/>
            <a:ext cx="2494631" cy="153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085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B56BCCE-ECAE-1AA2-06F3-0F7B03D57535}"/>
              </a:ext>
            </a:extLst>
          </p:cNvPr>
          <p:cNvSpPr/>
          <p:nvPr userDrawn="1"/>
        </p:nvSpPr>
        <p:spPr>
          <a:xfrm>
            <a:off x="343800" y="279000"/>
            <a:ext cx="8456400" cy="6300000"/>
          </a:xfrm>
          <a:custGeom>
            <a:avLst/>
            <a:gdLst>
              <a:gd name="connsiteX0" fmla="*/ 145089 w 8456400"/>
              <a:gd name="connsiteY0" fmla="*/ 0 h 6300000"/>
              <a:gd name="connsiteX1" fmla="*/ 7126200 w 8456400"/>
              <a:gd name="connsiteY1" fmla="*/ 0 h 6300000"/>
              <a:gd name="connsiteX2" fmla="*/ 7126200 w 8456400"/>
              <a:gd name="connsiteY2" fmla="*/ 640048 h 6300000"/>
              <a:gd name="connsiteX3" fmla="*/ 7287152 w 8456400"/>
              <a:gd name="connsiteY3" fmla="*/ 801000 h 6300000"/>
              <a:gd name="connsiteX4" fmla="*/ 8456400 w 8456400"/>
              <a:gd name="connsiteY4" fmla="*/ 801000 h 6300000"/>
              <a:gd name="connsiteX5" fmla="*/ 8456400 w 8456400"/>
              <a:gd name="connsiteY5" fmla="*/ 6154911 h 6300000"/>
              <a:gd name="connsiteX6" fmla="*/ 8311311 w 8456400"/>
              <a:gd name="connsiteY6" fmla="*/ 6300000 h 6300000"/>
              <a:gd name="connsiteX7" fmla="*/ 145089 w 8456400"/>
              <a:gd name="connsiteY7" fmla="*/ 6300000 h 6300000"/>
              <a:gd name="connsiteX8" fmla="*/ 0 w 8456400"/>
              <a:gd name="connsiteY8" fmla="*/ 6154911 h 6300000"/>
              <a:gd name="connsiteX9" fmla="*/ 0 w 8456400"/>
              <a:gd name="connsiteY9" fmla="*/ 145089 h 6300000"/>
              <a:gd name="connsiteX10" fmla="*/ 145089 w 8456400"/>
              <a:gd name="connsiteY10" fmla="*/ 0 h 63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6400" h="6300000">
                <a:moveTo>
                  <a:pt x="145089" y="0"/>
                </a:moveTo>
                <a:lnTo>
                  <a:pt x="7126200" y="0"/>
                </a:lnTo>
                <a:lnTo>
                  <a:pt x="7126200" y="640048"/>
                </a:lnTo>
                <a:cubicBezTo>
                  <a:pt x="7126200" y="728939"/>
                  <a:pt x="7198261" y="801000"/>
                  <a:pt x="7287152" y="801000"/>
                </a:cubicBezTo>
                <a:lnTo>
                  <a:pt x="8456400" y="801000"/>
                </a:lnTo>
                <a:lnTo>
                  <a:pt x="8456400" y="6154911"/>
                </a:lnTo>
                <a:cubicBezTo>
                  <a:pt x="8456400" y="6235041"/>
                  <a:pt x="8391441" y="6300000"/>
                  <a:pt x="8311311" y="6300000"/>
                </a:cubicBezTo>
                <a:lnTo>
                  <a:pt x="145089" y="6300000"/>
                </a:lnTo>
                <a:cubicBezTo>
                  <a:pt x="64959" y="6300000"/>
                  <a:pt x="0" y="6235041"/>
                  <a:pt x="0" y="6154911"/>
                </a:cubicBezTo>
                <a:lnTo>
                  <a:pt x="0" y="145089"/>
                </a:lnTo>
                <a:cubicBezTo>
                  <a:pt x="0" y="64959"/>
                  <a:pt x="64959" y="0"/>
                  <a:pt x="145089" y="0"/>
                </a:cubicBezTo>
                <a:close/>
              </a:path>
            </a:pathLst>
          </a:custGeom>
          <a:solidFill>
            <a:srgbClr val="C0000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9892D844-A96A-E5E6-A16B-51D130D67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186" y="1916832"/>
            <a:ext cx="6954791" cy="100603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D3DBA5F-BC2F-2B2A-C853-ED5844E3E0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42988" y="2924175"/>
            <a:ext cx="6769100" cy="1944688"/>
          </a:xfrm>
        </p:spPr>
        <p:txBody>
          <a:bodyPr/>
          <a:lstStyle>
            <a:lvl1pPr marL="271463" indent="-271463">
              <a:defRPr/>
            </a:lvl1pPr>
            <a:lvl2pPr marL="533400" indent="-261938">
              <a:defRPr/>
            </a:lvl2pPr>
            <a:lvl3pPr marL="806450" indent="-273050">
              <a:defRPr/>
            </a:lvl3pPr>
            <a:lvl4pPr marL="1077913" indent="-271463">
              <a:defRPr/>
            </a:lvl4pPr>
            <a:lvl5pPr marL="1349375" indent="-271463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1751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5003347-DEB3-4E4F-BC15-EAF0B37BF36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5" name="Picture 4" descr="A person in a suit&#10;&#10;Description automatically generated with low confidence">
            <a:extLst>
              <a:ext uri="{FF2B5EF4-FFF2-40B4-BE49-F238E27FC236}">
                <a16:creationId xmlns:a16="http://schemas.microsoft.com/office/drawing/2014/main" id="{DFE9B065-4797-AFE0-7199-1506F7F892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517488"/>
            <a:ext cx="3572263" cy="3855728"/>
          </a:xfrm>
          <a:prstGeom prst="rect">
            <a:avLst/>
          </a:prstGeom>
        </p:spPr>
      </p:pic>
      <p:sp>
        <p:nvSpPr>
          <p:cNvPr id="8" name="Title 4">
            <a:extLst>
              <a:ext uri="{FF2B5EF4-FFF2-40B4-BE49-F238E27FC236}">
                <a16:creationId xmlns:a16="http://schemas.microsoft.com/office/drawing/2014/main" id="{E0326E72-3F86-8836-5001-45B3ADE21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704" y="1794100"/>
            <a:ext cx="2291158" cy="597166"/>
          </a:xfrm>
        </p:spPr>
        <p:txBody>
          <a:bodyPr/>
          <a:lstStyle/>
          <a:p>
            <a:r>
              <a:rPr lang="en-US" dirty="0"/>
              <a:t>Introduction 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CE9C365-DBA6-1876-FF2B-59AB7CA7ECB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16463" y="1412875"/>
            <a:ext cx="3887787" cy="4176713"/>
          </a:xfrm>
        </p:spPr>
        <p:txBody>
          <a:bodyPr/>
          <a:lstStyle>
            <a:lvl1pPr marL="271463" indent="-271463">
              <a:defRPr/>
            </a:lvl1pPr>
            <a:lvl2pPr marL="533400" indent="-261938">
              <a:defRPr/>
            </a:lvl2pPr>
            <a:lvl3pPr marL="806450" indent="-273050">
              <a:defRPr/>
            </a:lvl3pPr>
            <a:lvl4pPr marL="1077913" indent="-271463">
              <a:defRPr/>
            </a:lvl4pPr>
            <a:lvl5pPr marL="1349375" indent="-271463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3354653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967972" y="692696"/>
            <a:ext cx="2163405" cy="1665257"/>
          </a:xfrm>
        </p:spPr>
        <p:txBody>
          <a:bodyPr rtlCol="0">
            <a:normAutofit/>
          </a:bodyPr>
          <a:lstStyle/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4956373" y="2564904"/>
            <a:ext cx="3288035" cy="3127761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AB290A2-4333-4013-94E7-A31F4E6D7FB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4" name="Picture 3" descr="A person in a suit&#10;&#10;Description automatically generated with low confidence">
            <a:extLst>
              <a:ext uri="{FF2B5EF4-FFF2-40B4-BE49-F238E27FC236}">
                <a16:creationId xmlns:a16="http://schemas.microsoft.com/office/drawing/2014/main" id="{B77B0C04-A8B8-0B7C-6384-F9AB4D2B5E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517488"/>
            <a:ext cx="3572263" cy="3855728"/>
          </a:xfrm>
          <a:prstGeom prst="rect">
            <a:avLst/>
          </a:prstGeom>
        </p:spPr>
      </p:pic>
      <p:sp>
        <p:nvSpPr>
          <p:cNvPr id="7" name="Title 4">
            <a:extLst>
              <a:ext uri="{FF2B5EF4-FFF2-40B4-BE49-F238E27FC236}">
                <a16:creationId xmlns:a16="http://schemas.microsoft.com/office/drawing/2014/main" id="{AF0C7787-6622-45C7-6F40-A8B164C19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704" y="1794100"/>
            <a:ext cx="2291158" cy="597166"/>
          </a:xfrm>
        </p:spPr>
        <p:txBody>
          <a:bodyPr/>
          <a:lstStyle/>
          <a:p>
            <a:r>
              <a:rPr lang="en-US" dirty="0"/>
              <a:t>Introduction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5356810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33546" y="3429000"/>
            <a:ext cx="2520274" cy="1728192"/>
          </a:xfrm>
          <a:solidFill>
            <a:srgbClr val="C00000"/>
          </a:solidFill>
        </p:spPr>
        <p:txBody>
          <a:bodyPr anchor="ctr">
            <a:noAutofit/>
          </a:bodyPr>
          <a:lstStyle>
            <a:lvl1pPr algn="ctr">
              <a:defRPr sz="2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Definition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8937" y="1700808"/>
            <a:ext cx="4869487" cy="4222706"/>
          </a:xfrm>
        </p:spPr>
        <p:txBody>
          <a:bodyPr>
            <a:normAutofit/>
          </a:bodyPr>
          <a:lstStyle>
            <a:lvl1pPr marL="271463" indent="-271463">
              <a:spcBef>
                <a:spcPts val="0"/>
              </a:spcBef>
              <a:spcAft>
                <a:spcPts val="600"/>
              </a:spcAft>
              <a:defRPr sz="1600"/>
            </a:lvl1pPr>
            <a:lvl2pPr marL="533400" indent="-261938">
              <a:spcBef>
                <a:spcPts val="0"/>
              </a:spcBef>
              <a:spcAft>
                <a:spcPts val="600"/>
              </a:spcAft>
              <a:defRPr sz="1600"/>
            </a:lvl2pPr>
            <a:lvl3pPr marL="806450" indent="-271463" defTabSz="896938">
              <a:spcBef>
                <a:spcPts val="0"/>
              </a:spcBef>
              <a:spcAft>
                <a:spcPts val="600"/>
              </a:spcAft>
              <a:defRPr sz="1600"/>
            </a:lvl3pPr>
            <a:lvl4pPr marL="1077913" indent="-271463">
              <a:spcBef>
                <a:spcPts val="0"/>
              </a:spcBef>
              <a:spcAft>
                <a:spcPts val="600"/>
              </a:spcAft>
              <a:defRPr sz="1600"/>
            </a:lvl4pPr>
            <a:lvl5pPr marL="1349375" indent="-271463">
              <a:spcBef>
                <a:spcPts val="0"/>
              </a:spcBef>
              <a:spcAft>
                <a:spcPts val="600"/>
              </a:spcAft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00934" y="1167194"/>
            <a:ext cx="4896543" cy="461606"/>
          </a:xfrm>
        </p:spPr>
        <p:txBody>
          <a:bodyPr/>
          <a:lstStyle>
            <a:lvl1pPr marL="0" indent="0">
              <a:buNone/>
              <a:defRPr sz="1800" b="1">
                <a:solidFill>
                  <a:srgbClr val="C0000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6CC1E235-1468-4519-B252-BA9630ABB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7" name="Date Placeholder 4">
            <a:extLst>
              <a:ext uri="{FF2B5EF4-FFF2-40B4-BE49-F238E27FC236}">
                <a16:creationId xmlns:a16="http://schemas.microsoft.com/office/drawing/2014/main" id="{C0A60896-8D1F-66D1-31F6-CD1827E15E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65304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8" name="Footer Placeholder 5">
            <a:extLst>
              <a:ext uri="{FF2B5EF4-FFF2-40B4-BE49-F238E27FC236}">
                <a16:creationId xmlns:a16="http://schemas.microsoft.com/office/drawing/2014/main" id="{8E0558DC-4300-3B64-199E-130ABF9D2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16530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EA879D-FFB8-D90F-2FC7-6506793D98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980"/>
          <a:stretch/>
        </p:blipFill>
        <p:spPr>
          <a:xfrm>
            <a:off x="899598" y="876580"/>
            <a:ext cx="2520274" cy="2552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887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D9897D07-2FA0-D788-8F76-C6B739607E8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2000" y="1368000"/>
            <a:ext cx="7560000" cy="46800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IN" dirty="0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marL="806450" lvl="2" indent="-271463" defTabSz="896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029F3FF2-B64D-6143-6959-A69888CB9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44" y="332656"/>
            <a:ext cx="6984776" cy="951324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5752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SmartArt Placeholder 7">
            <a:extLst>
              <a:ext uri="{FF2B5EF4-FFF2-40B4-BE49-F238E27FC236}">
                <a16:creationId xmlns:a16="http://schemas.microsoft.com/office/drawing/2014/main" id="{9AC8005C-423E-EAB2-C5DE-9C9721847738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793487" y="1368000"/>
            <a:ext cx="7560000" cy="46800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IN"/>
            </a:lvl1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endParaRPr lang="en-IN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9368C03C-490E-800B-A128-FDBD5AB1C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44" y="332656"/>
            <a:ext cx="6984776" cy="951324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2586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5A1EA99D-DB6F-EA33-CC0C-CBF708068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44" y="332656"/>
            <a:ext cx="6984776" cy="951324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3DB7C532-B1B1-BA79-42E9-1B5C67F77979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92000" y="1368000"/>
            <a:ext cx="7560000" cy="468052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IN"/>
            </a:lvl1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236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3DDB060-2610-5841-1D25-87F539A50E9F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721480" y="1628801"/>
            <a:ext cx="4570600" cy="288061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IN"/>
            </a:lvl1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endParaRPr lang="en-IN"/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2654A4E3-D363-7FBC-3E34-E6C70474E55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401999" y="1432415"/>
            <a:ext cx="3058433" cy="451686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IN" dirty="0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marL="806450" lvl="2" indent="-271463" defTabSz="896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04C90E8E-678A-5DCC-4FFB-78A08B1B9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44" y="332656"/>
            <a:ext cx="6984776" cy="951324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1" name="SmartArt Placeholder 10">
            <a:extLst>
              <a:ext uri="{FF2B5EF4-FFF2-40B4-BE49-F238E27FC236}">
                <a16:creationId xmlns:a16="http://schemas.microsoft.com/office/drawing/2014/main" id="{9F756862-B253-C40E-D1D8-16BF457A748F}"/>
              </a:ext>
            </a:extLst>
          </p:cNvPr>
          <p:cNvSpPr>
            <a:spLocks noGrp="1"/>
          </p:cNvSpPr>
          <p:nvPr>
            <p:ph type="dgm" sz="quarter" idx="19"/>
          </p:nvPr>
        </p:nvSpPr>
        <p:spPr>
          <a:xfrm>
            <a:off x="720725" y="4581128"/>
            <a:ext cx="4572000" cy="181882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IN"/>
            </a:lvl1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723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57C0C-A674-4593-9898-B3F61DD08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3" name="Content Placeholder 14">
            <a:extLst>
              <a:ext uri="{FF2B5EF4-FFF2-40B4-BE49-F238E27FC236}">
                <a16:creationId xmlns:a16="http://schemas.microsoft.com/office/drawing/2014/main" id="{AC432B98-D902-D2C0-FE35-44398FF7CE8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39952" y="1368000"/>
            <a:ext cx="4320000" cy="46800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IN" dirty="0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marL="806450" lvl="2" indent="-271463" defTabSz="896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56F7A65D-8203-53FF-3336-E44438AC7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224" y="1052736"/>
            <a:ext cx="2880000" cy="951324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E7294B23-4960-A084-E4E4-AE6215553940}"/>
              </a:ext>
            </a:extLst>
          </p:cNvPr>
          <p:cNvSpPr>
            <a:spLocks noGrp="1"/>
          </p:cNvSpPr>
          <p:nvPr>
            <p:ph type="clipArt" sz="quarter" idx="16"/>
          </p:nvPr>
        </p:nvSpPr>
        <p:spPr>
          <a:xfrm>
            <a:off x="360000" y="288000"/>
            <a:ext cx="3527425" cy="6264000"/>
          </a:xfrm>
          <a:prstGeom prst="roundRect">
            <a:avLst>
              <a:gd name="adj" fmla="val 4066"/>
            </a:avLst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224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54A861C-DF98-43A5-B1C1-2A6D23ED8CCA}"/>
              </a:ext>
            </a:extLst>
          </p:cNvPr>
          <p:cNvSpPr/>
          <p:nvPr/>
        </p:nvSpPr>
        <p:spPr>
          <a:xfrm>
            <a:off x="4429708" y="1310243"/>
            <a:ext cx="3958716" cy="43510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64FAB1-E162-4946-A0A6-2FD42F5E26FB}"/>
              </a:ext>
            </a:extLst>
          </p:cNvPr>
          <p:cNvSpPr/>
          <p:nvPr/>
        </p:nvSpPr>
        <p:spPr>
          <a:xfrm>
            <a:off x="4361113" y="1310243"/>
            <a:ext cx="68595" cy="43510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D97D77-6FC8-4F77-8903-8537023EF2A0}"/>
              </a:ext>
            </a:extLst>
          </p:cNvPr>
          <p:cNvSpPr/>
          <p:nvPr/>
        </p:nvSpPr>
        <p:spPr>
          <a:xfrm>
            <a:off x="4203452" y="1310243"/>
            <a:ext cx="32000" cy="43510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161CF6-9347-4371-8E8D-8C04537AD494}"/>
              </a:ext>
            </a:extLst>
          </p:cNvPr>
          <p:cNvSpPr/>
          <p:nvPr/>
        </p:nvSpPr>
        <p:spPr>
          <a:xfrm>
            <a:off x="985245" y="1310243"/>
            <a:ext cx="68595" cy="435100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259216-CB7D-4FBB-9ED6-30B330CD9D7F}"/>
              </a:ext>
            </a:extLst>
          </p:cNvPr>
          <p:cNvSpPr/>
          <p:nvPr/>
        </p:nvSpPr>
        <p:spPr>
          <a:xfrm>
            <a:off x="827584" y="1310243"/>
            <a:ext cx="32000" cy="435100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359" y="1483287"/>
            <a:ext cx="3653617" cy="3960440"/>
          </a:xfrm>
        </p:spPr>
        <p:txBody>
          <a:bodyPr/>
          <a:lstStyle>
            <a:lvl1pPr>
              <a:defRPr sz="28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A69670C1-3B0B-4D63-86C4-95153FAA9C1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3" name="Content Placeholder 14">
            <a:extLst>
              <a:ext uri="{FF2B5EF4-FFF2-40B4-BE49-F238E27FC236}">
                <a16:creationId xmlns:a16="http://schemas.microsoft.com/office/drawing/2014/main" id="{CC39A7F5-AC83-ED16-B17B-495EFF0D96C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93489" y="1310243"/>
            <a:ext cx="3409964" cy="435100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IN" dirty="0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806450" lvl="2" indent="-271463" defTabSz="896938">
              <a:spcBef>
                <a:spcPts val="0"/>
              </a:spcBef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3129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08A2BF8-991E-44B6-99C0-EF08D725DE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F42404D5-5569-61A1-2F02-23866E30A726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755650" y="620688"/>
            <a:ext cx="6408638" cy="3529013"/>
          </a:xfrm>
        </p:spPr>
        <p:txBody>
          <a:bodyPr/>
          <a:lstStyle/>
          <a:p>
            <a:endParaRPr lang="en-IN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85188C3B-71EE-49B5-21DA-5BA676543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44" y="4221088"/>
            <a:ext cx="3121744" cy="2016224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7" name="Content Placeholder 14">
            <a:extLst>
              <a:ext uri="{FF2B5EF4-FFF2-40B4-BE49-F238E27FC236}">
                <a16:creationId xmlns:a16="http://schemas.microsoft.com/office/drawing/2014/main" id="{DE339DD3-E073-C000-FA43-C65C1D19F3D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851920" y="4299053"/>
            <a:ext cx="4680520" cy="179424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IN" dirty="0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marL="806450" lvl="2" indent="-271463" defTabSz="896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7674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866904-A1F5-5780-6621-6D0E6C225B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33361C3-E123-63FE-D5BA-60E835C63A30}"/>
              </a:ext>
            </a:extLst>
          </p:cNvPr>
          <p:cNvGrpSpPr/>
          <p:nvPr userDrawn="1"/>
        </p:nvGrpSpPr>
        <p:grpSpPr>
          <a:xfrm>
            <a:off x="816586" y="768299"/>
            <a:ext cx="5471409" cy="908413"/>
            <a:chOff x="399228" y="768299"/>
            <a:chExt cx="5471409" cy="908413"/>
          </a:xfrm>
        </p:grpSpPr>
        <p:grpSp>
          <p:nvGrpSpPr>
            <p:cNvPr id="5" name="Google Shape;8143;p50">
              <a:extLst>
                <a:ext uri="{FF2B5EF4-FFF2-40B4-BE49-F238E27FC236}">
                  <a16:creationId xmlns:a16="http://schemas.microsoft.com/office/drawing/2014/main" id="{7AA405A6-EBCF-67B4-42F6-559B0A9E1480}"/>
                </a:ext>
              </a:extLst>
            </p:cNvPr>
            <p:cNvGrpSpPr>
              <a:grpSpLocks/>
            </p:cNvGrpSpPr>
            <p:nvPr/>
          </p:nvGrpSpPr>
          <p:grpSpPr>
            <a:xfrm rot="10800000" flipH="1">
              <a:off x="399228" y="768299"/>
              <a:ext cx="5471409" cy="908413"/>
              <a:chOff x="3215450" y="3739048"/>
              <a:chExt cx="673556" cy="111830"/>
            </a:xfrm>
          </p:grpSpPr>
          <p:sp>
            <p:nvSpPr>
              <p:cNvPr id="7" name="Google Shape;8144;p50">
                <a:extLst>
                  <a:ext uri="{FF2B5EF4-FFF2-40B4-BE49-F238E27FC236}">
                    <a16:creationId xmlns:a16="http://schemas.microsoft.com/office/drawing/2014/main" id="{2BBC16BA-E9A4-1095-597C-166CA536646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215450" y="3739048"/>
                <a:ext cx="673556" cy="111830"/>
              </a:xfrm>
              <a:custGeom>
                <a:avLst/>
                <a:gdLst>
                  <a:gd name="connsiteX0" fmla="*/ 1134 w 12973"/>
                  <a:gd name="connsiteY0" fmla="*/ 0 h 9996"/>
                  <a:gd name="connsiteX1" fmla="*/ 286 w 12973"/>
                  <a:gd name="connsiteY1" fmla="*/ 8074 h 9996"/>
                  <a:gd name="connsiteX2" fmla="*/ 331 w 12973"/>
                  <a:gd name="connsiteY2" fmla="*/ 8284 h 9996"/>
                  <a:gd name="connsiteX3" fmla="*/ 1285 w 12973"/>
                  <a:gd name="connsiteY3" fmla="*/ 9996 h 9996"/>
                  <a:gd name="connsiteX4" fmla="*/ 2078 w 12973"/>
                  <a:gd name="connsiteY4" fmla="*/ 8881 h 9996"/>
                  <a:gd name="connsiteX5" fmla="*/ 12934 w 12973"/>
                  <a:gd name="connsiteY5" fmla="*/ 8881 h 9996"/>
                  <a:gd name="connsiteX6" fmla="*/ 8497 w 12973"/>
                  <a:gd name="connsiteY6" fmla="*/ 6237 h 9996"/>
                  <a:gd name="connsiteX7" fmla="*/ 9460 w 12973"/>
                  <a:gd name="connsiteY7" fmla="*/ 2047 h 9996"/>
                  <a:gd name="connsiteX8" fmla="*/ 9266 w 12973"/>
                  <a:gd name="connsiteY8" fmla="*/ 16 h 9996"/>
                  <a:gd name="connsiteX9" fmla="*/ 1134 w 12973"/>
                  <a:gd name="connsiteY9" fmla="*/ 0 h 9996"/>
                  <a:gd name="connsiteX0" fmla="*/ 874 w 10648"/>
                  <a:gd name="connsiteY0" fmla="*/ 0 h 10000"/>
                  <a:gd name="connsiteX1" fmla="*/ 220 w 10648"/>
                  <a:gd name="connsiteY1" fmla="*/ 8077 h 10000"/>
                  <a:gd name="connsiteX2" fmla="*/ 255 w 10648"/>
                  <a:gd name="connsiteY2" fmla="*/ 8287 h 10000"/>
                  <a:gd name="connsiteX3" fmla="*/ 991 w 10648"/>
                  <a:gd name="connsiteY3" fmla="*/ 10000 h 10000"/>
                  <a:gd name="connsiteX4" fmla="*/ 1602 w 10648"/>
                  <a:gd name="connsiteY4" fmla="*/ 8885 h 10000"/>
                  <a:gd name="connsiteX5" fmla="*/ 9970 w 10648"/>
                  <a:gd name="connsiteY5" fmla="*/ 8885 h 10000"/>
                  <a:gd name="connsiteX6" fmla="*/ 10648 w 10648"/>
                  <a:gd name="connsiteY6" fmla="*/ 6737 h 10000"/>
                  <a:gd name="connsiteX7" fmla="*/ 7292 w 10648"/>
                  <a:gd name="connsiteY7" fmla="*/ 2048 h 10000"/>
                  <a:gd name="connsiteX8" fmla="*/ 7143 w 10648"/>
                  <a:gd name="connsiteY8" fmla="*/ 16 h 10000"/>
                  <a:gd name="connsiteX9" fmla="*/ 874 w 10648"/>
                  <a:gd name="connsiteY9" fmla="*/ 0 h 10000"/>
                  <a:gd name="connsiteX0" fmla="*/ 874 w 11603"/>
                  <a:gd name="connsiteY0" fmla="*/ 0 h 10000"/>
                  <a:gd name="connsiteX1" fmla="*/ 220 w 11603"/>
                  <a:gd name="connsiteY1" fmla="*/ 8077 h 10000"/>
                  <a:gd name="connsiteX2" fmla="*/ 255 w 11603"/>
                  <a:gd name="connsiteY2" fmla="*/ 8287 h 10000"/>
                  <a:gd name="connsiteX3" fmla="*/ 991 w 11603"/>
                  <a:gd name="connsiteY3" fmla="*/ 10000 h 10000"/>
                  <a:gd name="connsiteX4" fmla="*/ 1602 w 11603"/>
                  <a:gd name="connsiteY4" fmla="*/ 8885 h 10000"/>
                  <a:gd name="connsiteX5" fmla="*/ 9970 w 11603"/>
                  <a:gd name="connsiteY5" fmla="*/ 8885 h 10000"/>
                  <a:gd name="connsiteX6" fmla="*/ 10648 w 11603"/>
                  <a:gd name="connsiteY6" fmla="*/ 6737 h 10000"/>
                  <a:gd name="connsiteX7" fmla="*/ 11601 w 11603"/>
                  <a:gd name="connsiteY7" fmla="*/ 1550 h 10000"/>
                  <a:gd name="connsiteX8" fmla="*/ 7143 w 11603"/>
                  <a:gd name="connsiteY8" fmla="*/ 16 h 10000"/>
                  <a:gd name="connsiteX9" fmla="*/ 874 w 11603"/>
                  <a:gd name="connsiteY9" fmla="*/ 0 h 10000"/>
                  <a:gd name="connsiteX0" fmla="*/ 874 w 11663"/>
                  <a:gd name="connsiteY0" fmla="*/ 0 h 10000"/>
                  <a:gd name="connsiteX1" fmla="*/ 220 w 11663"/>
                  <a:gd name="connsiteY1" fmla="*/ 8077 h 10000"/>
                  <a:gd name="connsiteX2" fmla="*/ 255 w 11663"/>
                  <a:gd name="connsiteY2" fmla="*/ 8287 h 10000"/>
                  <a:gd name="connsiteX3" fmla="*/ 991 w 11663"/>
                  <a:gd name="connsiteY3" fmla="*/ 10000 h 10000"/>
                  <a:gd name="connsiteX4" fmla="*/ 1602 w 11663"/>
                  <a:gd name="connsiteY4" fmla="*/ 8885 h 10000"/>
                  <a:gd name="connsiteX5" fmla="*/ 9970 w 11663"/>
                  <a:gd name="connsiteY5" fmla="*/ 8885 h 10000"/>
                  <a:gd name="connsiteX6" fmla="*/ 10648 w 11663"/>
                  <a:gd name="connsiteY6" fmla="*/ 6737 h 10000"/>
                  <a:gd name="connsiteX7" fmla="*/ 11601 w 11663"/>
                  <a:gd name="connsiteY7" fmla="*/ 1550 h 10000"/>
                  <a:gd name="connsiteX8" fmla="*/ 11452 w 11663"/>
                  <a:gd name="connsiteY8" fmla="*/ 16 h 10000"/>
                  <a:gd name="connsiteX9" fmla="*/ 874 w 11663"/>
                  <a:gd name="connsiteY9" fmla="*/ 0 h 10000"/>
                  <a:gd name="connsiteX0" fmla="*/ 874 w 11663"/>
                  <a:gd name="connsiteY0" fmla="*/ 0 h 10000"/>
                  <a:gd name="connsiteX1" fmla="*/ 220 w 11663"/>
                  <a:gd name="connsiteY1" fmla="*/ 8077 h 10000"/>
                  <a:gd name="connsiteX2" fmla="*/ 255 w 11663"/>
                  <a:gd name="connsiteY2" fmla="*/ 8287 h 10000"/>
                  <a:gd name="connsiteX3" fmla="*/ 991 w 11663"/>
                  <a:gd name="connsiteY3" fmla="*/ 10000 h 10000"/>
                  <a:gd name="connsiteX4" fmla="*/ 1602 w 11663"/>
                  <a:gd name="connsiteY4" fmla="*/ 8885 h 10000"/>
                  <a:gd name="connsiteX5" fmla="*/ 9759 w 11663"/>
                  <a:gd name="connsiteY5" fmla="*/ 8885 h 10000"/>
                  <a:gd name="connsiteX6" fmla="*/ 10648 w 11663"/>
                  <a:gd name="connsiteY6" fmla="*/ 6737 h 10000"/>
                  <a:gd name="connsiteX7" fmla="*/ 11601 w 11663"/>
                  <a:gd name="connsiteY7" fmla="*/ 1550 h 10000"/>
                  <a:gd name="connsiteX8" fmla="*/ 11452 w 11663"/>
                  <a:gd name="connsiteY8" fmla="*/ 16 h 10000"/>
                  <a:gd name="connsiteX9" fmla="*/ 874 w 11663"/>
                  <a:gd name="connsiteY9" fmla="*/ 0 h 10000"/>
                  <a:gd name="connsiteX0" fmla="*/ 874 w 11688"/>
                  <a:gd name="connsiteY0" fmla="*/ 0 h 10000"/>
                  <a:gd name="connsiteX1" fmla="*/ 220 w 11688"/>
                  <a:gd name="connsiteY1" fmla="*/ 8077 h 10000"/>
                  <a:gd name="connsiteX2" fmla="*/ 255 w 11688"/>
                  <a:gd name="connsiteY2" fmla="*/ 8287 h 10000"/>
                  <a:gd name="connsiteX3" fmla="*/ 991 w 11688"/>
                  <a:gd name="connsiteY3" fmla="*/ 10000 h 10000"/>
                  <a:gd name="connsiteX4" fmla="*/ 1602 w 11688"/>
                  <a:gd name="connsiteY4" fmla="*/ 8885 h 10000"/>
                  <a:gd name="connsiteX5" fmla="*/ 9759 w 11688"/>
                  <a:gd name="connsiteY5" fmla="*/ 8885 h 10000"/>
                  <a:gd name="connsiteX6" fmla="*/ 10648 w 11688"/>
                  <a:gd name="connsiteY6" fmla="*/ 6737 h 10000"/>
                  <a:gd name="connsiteX7" fmla="*/ 11601 w 11688"/>
                  <a:gd name="connsiteY7" fmla="*/ 1550 h 10000"/>
                  <a:gd name="connsiteX8" fmla="*/ 11529 w 11688"/>
                  <a:gd name="connsiteY8" fmla="*/ 16 h 10000"/>
                  <a:gd name="connsiteX9" fmla="*/ 874 w 11688"/>
                  <a:gd name="connsiteY9" fmla="*/ 0 h 10000"/>
                  <a:gd name="connsiteX0" fmla="*/ 874 w 11634"/>
                  <a:gd name="connsiteY0" fmla="*/ 0 h 10000"/>
                  <a:gd name="connsiteX1" fmla="*/ 220 w 11634"/>
                  <a:gd name="connsiteY1" fmla="*/ 8077 h 10000"/>
                  <a:gd name="connsiteX2" fmla="*/ 255 w 11634"/>
                  <a:gd name="connsiteY2" fmla="*/ 8287 h 10000"/>
                  <a:gd name="connsiteX3" fmla="*/ 991 w 11634"/>
                  <a:gd name="connsiteY3" fmla="*/ 10000 h 10000"/>
                  <a:gd name="connsiteX4" fmla="*/ 1602 w 11634"/>
                  <a:gd name="connsiteY4" fmla="*/ 8885 h 10000"/>
                  <a:gd name="connsiteX5" fmla="*/ 9759 w 11634"/>
                  <a:gd name="connsiteY5" fmla="*/ 8885 h 10000"/>
                  <a:gd name="connsiteX6" fmla="*/ 10648 w 11634"/>
                  <a:gd name="connsiteY6" fmla="*/ 6737 h 10000"/>
                  <a:gd name="connsiteX7" fmla="*/ 11486 w 11634"/>
                  <a:gd name="connsiteY7" fmla="*/ 2148 h 10000"/>
                  <a:gd name="connsiteX8" fmla="*/ 11529 w 11634"/>
                  <a:gd name="connsiteY8" fmla="*/ 16 h 10000"/>
                  <a:gd name="connsiteX9" fmla="*/ 874 w 11634"/>
                  <a:gd name="connsiteY9" fmla="*/ 0 h 10000"/>
                  <a:gd name="connsiteX0" fmla="*/ 874 w 11573"/>
                  <a:gd name="connsiteY0" fmla="*/ 0 h 10000"/>
                  <a:gd name="connsiteX1" fmla="*/ 220 w 11573"/>
                  <a:gd name="connsiteY1" fmla="*/ 8077 h 10000"/>
                  <a:gd name="connsiteX2" fmla="*/ 255 w 11573"/>
                  <a:gd name="connsiteY2" fmla="*/ 8287 h 10000"/>
                  <a:gd name="connsiteX3" fmla="*/ 991 w 11573"/>
                  <a:gd name="connsiteY3" fmla="*/ 10000 h 10000"/>
                  <a:gd name="connsiteX4" fmla="*/ 1602 w 11573"/>
                  <a:gd name="connsiteY4" fmla="*/ 8885 h 10000"/>
                  <a:gd name="connsiteX5" fmla="*/ 9759 w 11573"/>
                  <a:gd name="connsiteY5" fmla="*/ 8885 h 10000"/>
                  <a:gd name="connsiteX6" fmla="*/ 10648 w 11573"/>
                  <a:gd name="connsiteY6" fmla="*/ 6737 h 10000"/>
                  <a:gd name="connsiteX7" fmla="*/ 11486 w 11573"/>
                  <a:gd name="connsiteY7" fmla="*/ 2148 h 10000"/>
                  <a:gd name="connsiteX8" fmla="*/ 11414 w 11573"/>
                  <a:gd name="connsiteY8" fmla="*/ 16 h 10000"/>
                  <a:gd name="connsiteX9" fmla="*/ 874 w 11573"/>
                  <a:gd name="connsiteY9" fmla="*/ 0 h 10000"/>
                  <a:gd name="connsiteX0" fmla="*/ 874 w 11526"/>
                  <a:gd name="connsiteY0" fmla="*/ 0 h 10000"/>
                  <a:gd name="connsiteX1" fmla="*/ 220 w 11526"/>
                  <a:gd name="connsiteY1" fmla="*/ 8077 h 10000"/>
                  <a:gd name="connsiteX2" fmla="*/ 255 w 11526"/>
                  <a:gd name="connsiteY2" fmla="*/ 8287 h 10000"/>
                  <a:gd name="connsiteX3" fmla="*/ 991 w 11526"/>
                  <a:gd name="connsiteY3" fmla="*/ 10000 h 10000"/>
                  <a:gd name="connsiteX4" fmla="*/ 1602 w 11526"/>
                  <a:gd name="connsiteY4" fmla="*/ 8885 h 10000"/>
                  <a:gd name="connsiteX5" fmla="*/ 9759 w 11526"/>
                  <a:gd name="connsiteY5" fmla="*/ 8885 h 10000"/>
                  <a:gd name="connsiteX6" fmla="*/ 10648 w 11526"/>
                  <a:gd name="connsiteY6" fmla="*/ 6737 h 10000"/>
                  <a:gd name="connsiteX7" fmla="*/ 11390 w 11526"/>
                  <a:gd name="connsiteY7" fmla="*/ 2746 h 10000"/>
                  <a:gd name="connsiteX8" fmla="*/ 11414 w 11526"/>
                  <a:gd name="connsiteY8" fmla="*/ 16 h 10000"/>
                  <a:gd name="connsiteX9" fmla="*/ 874 w 11526"/>
                  <a:gd name="connsiteY9" fmla="*/ 0 h 10000"/>
                  <a:gd name="connsiteX0" fmla="*/ 874 w 11573"/>
                  <a:gd name="connsiteY0" fmla="*/ 0 h 10000"/>
                  <a:gd name="connsiteX1" fmla="*/ 220 w 11573"/>
                  <a:gd name="connsiteY1" fmla="*/ 8077 h 10000"/>
                  <a:gd name="connsiteX2" fmla="*/ 255 w 11573"/>
                  <a:gd name="connsiteY2" fmla="*/ 8287 h 10000"/>
                  <a:gd name="connsiteX3" fmla="*/ 991 w 11573"/>
                  <a:gd name="connsiteY3" fmla="*/ 10000 h 10000"/>
                  <a:gd name="connsiteX4" fmla="*/ 1602 w 11573"/>
                  <a:gd name="connsiteY4" fmla="*/ 8885 h 10000"/>
                  <a:gd name="connsiteX5" fmla="*/ 9759 w 11573"/>
                  <a:gd name="connsiteY5" fmla="*/ 8885 h 10000"/>
                  <a:gd name="connsiteX6" fmla="*/ 10648 w 11573"/>
                  <a:gd name="connsiteY6" fmla="*/ 6737 h 10000"/>
                  <a:gd name="connsiteX7" fmla="*/ 11486 w 11573"/>
                  <a:gd name="connsiteY7" fmla="*/ 2248 h 10000"/>
                  <a:gd name="connsiteX8" fmla="*/ 11414 w 11573"/>
                  <a:gd name="connsiteY8" fmla="*/ 16 h 10000"/>
                  <a:gd name="connsiteX9" fmla="*/ 874 w 11573"/>
                  <a:gd name="connsiteY9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573" h="10000" extrusionOk="0">
                    <a:moveTo>
                      <a:pt x="874" y="0"/>
                    </a:moveTo>
                    <a:cubicBezTo>
                      <a:pt x="132" y="0"/>
                      <a:pt x="-281" y="4997"/>
                      <a:pt x="220" y="8077"/>
                    </a:cubicBezTo>
                    <a:cubicBezTo>
                      <a:pt x="232" y="8142"/>
                      <a:pt x="244" y="8207"/>
                      <a:pt x="255" y="8287"/>
                    </a:cubicBezTo>
                    <a:cubicBezTo>
                      <a:pt x="456" y="9419"/>
                      <a:pt x="722" y="10000"/>
                      <a:pt x="991" y="10000"/>
                    </a:cubicBezTo>
                    <a:cubicBezTo>
                      <a:pt x="1204" y="10000"/>
                      <a:pt x="1418" y="9633"/>
                      <a:pt x="1602" y="8885"/>
                    </a:cubicBezTo>
                    <a:lnTo>
                      <a:pt x="9759" y="8885"/>
                    </a:lnTo>
                    <a:cubicBezTo>
                      <a:pt x="10185" y="8885"/>
                      <a:pt x="10344" y="8430"/>
                      <a:pt x="10648" y="6737"/>
                    </a:cubicBezTo>
                    <a:lnTo>
                      <a:pt x="11486" y="2248"/>
                    </a:lnTo>
                    <a:cubicBezTo>
                      <a:pt x="11620" y="1506"/>
                      <a:pt x="11603" y="16"/>
                      <a:pt x="11414" y="16"/>
                    </a:cubicBezTo>
                    <a:lnTo>
                      <a:pt x="874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8145;p50">
                <a:extLst>
                  <a:ext uri="{FF2B5EF4-FFF2-40B4-BE49-F238E27FC236}">
                    <a16:creationId xmlns:a16="http://schemas.microsoft.com/office/drawing/2014/main" id="{00645271-0C61-A0A1-1ED2-5BF203ED893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219950" y="3746666"/>
                <a:ext cx="105477" cy="95322"/>
              </a:xfrm>
              <a:custGeom>
                <a:avLst/>
                <a:gdLst/>
                <a:ahLst/>
                <a:cxnLst/>
                <a:rect l="l" t="t" r="r" b="b"/>
                <a:pathLst>
                  <a:path w="3355" h="3032" extrusionOk="0">
                    <a:moveTo>
                      <a:pt x="1681" y="1"/>
                    </a:moveTo>
                    <a:cubicBezTo>
                      <a:pt x="1553" y="1"/>
                      <a:pt x="1422" y="17"/>
                      <a:pt x="1292" y="52"/>
                    </a:cubicBezTo>
                    <a:cubicBezTo>
                      <a:pt x="484" y="261"/>
                      <a:pt x="0" y="1091"/>
                      <a:pt x="210" y="1898"/>
                    </a:cubicBezTo>
                    <a:cubicBezTo>
                      <a:pt x="385" y="2577"/>
                      <a:pt x="999" y="3032"/>
                      <a:pt x="1669" y="3032"/>
                    </a:cubicBezTo>
                    <a:cubicBezTo>
                      <a:pt x="1797" y="3032"/>
                      <a:pt x="1927" y="3015"/>
                      <a:pt x="2056" y="2980"/>
                    </a:cubicBezTo>
                    <a:cubicBezTo>
                      <a:pt x="2871" y="2771"/>
                      <a:pt x="3354" y="1942"/>
                      <a:pt x="3145" y="1134"/>
                    </a:cubicBezTo>
                    <a:cubicBezTo>
                      <a:pt x="2963" y="456"/>
                      <a:pt x="2354" y="1"/>
                      <a:pt x="1681" y="1"/>
                    </a:cubicBezTo>
                    <a:close/>
                  </a:path>
                </a:pathLst>
              </a:custGeom>
              <a:ln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pic>
          <p:nvPicPr>
            <p:cNvPr id="6" name="Graphic 5" descr="Presentation with checklist with solid fill">
              <a:extLst>
                <a:ext uri="{FF2B5EF4-FFF2-40B4-BE49-F238E27FC236}">
                  <a16:creationId xmlns:a16="http://schemas.microsoft.com/office/drawing/2014/main" id="{BD96F00B-F958-8EE2-58C1-5616A4F8CBF7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06763" y="904009"/>
              <a:ext cx="690127" cy="690127"/>
            </a:xfrm>
            <a:prstGeom prst="rect">
              <a:avLst/>
            </a:prstGeom>
          </p:spPr>
        </p:pic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C27A545-65B1-1EC7-801C-DEDC3F54B8F9}"/>
              </a:ext>
            </a:extLst>
          </p:cNvPr>
          <p:cNvSpPr/>
          <p:nvPr userDrawn="1"/>
        </p:nvSpPr>
        <p:spPr>
          <a:xfrm>
            <a:off x="802332" y="1484784"/>
            <a:ext cx="7658100" cy="3905250"/>
          </a:xfrm>
          <a:custGeom>
            <a:avLst/>
            <a:gdLst>
              <a:gd name="connsiteX0" fmla="*/ 0 w 7658100"/>
              <a:gd name="connsiteY0" fmla="*/ 152400 h 3905250"/>
              <a:gd name="connsiteX1" fmla="*/ 0 w 7658100"/>
              <a:gd name="connsiteY1" fmla="*/ 3905250 h 3905250"/>
              <a:gd name="connsiteX2" fmla="*/ 7658100 w 7658100"/>
              <a:gd name="connsiteY2" fmla="*/ 3905250 h 3905250"/>
              <a:gd name="connsiteX3" fmla="*/ 7658100 w 7658100"/>
              <a:gd name="connsiteY3" fmla="*/ 0 h 3905250"/>
              <a:gd name="connsiteX4" fmla="*/ 3667125 w 7658100"/>
              <a:gd name="connsiteY4" fmla="*/ 0 h 3905250"/>
              <a:gd name="connsiteX0" fmla="*/ 0 w 7658100"/>
              <a:gd name="connsiteY0" fmla="*/ 152400 h 3905250"/>
              <a:gd name="connsiteX1" fmla="*/ 0 w 7658100"/>
              <a:gd name="connsiteY1" fmla="*/ 3905250 h 3905250"/>
              <a:gd name="connsiteX2" fmla="*/ 7658100 w 7658100"/>
              <a:gd name="connsiteY2" fmla="*/ 3905250 h 3905250"/>
              <a:gd name="connsiteX3" fmla="*/ 7658100 w 7658100"/>
              <a:gd name="connsiteY3" fmla="*/ 0 h 3905250"/>
              <a:gd name="connsiteX4" fmla="*/ 5722262 w 7658100"/>
              <a:gd name="connsiteY4" fmla="*/ 0 h 390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58100" h="3905250">
                <a:moveTo>
                  <a:pt x="0" y="152400"/>
                </a:moveTo>
                <a:lnTo>
                  <a:pt x="0" y="3905250"/>
                </a:lnTo>
                <a:lnTo>
                  <a:pt x="7658100" y="3905250"/>
                </a:lnTo>
                <a:lnTo>
                  <a:pt x="7658100" y="0"/>
                </a:lnTo>
                <a:lnTo>
                  <a:pt x="5722262" y="0"/>
                </a:lnTo>
              </a:path>
            </a:pathLst>
          </a:custGeom>
          <a:noFill/>
          <a:ln>
            <a:solidFill>
              <a:srgbClr val="D39F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A17884-E17D-FC61-4BD2-4F27E796B0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34269" y="922363"/>
            <a:ext cx="4553726" cy="70643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n-IN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>
                <a:latin typeface="+mj-lt"/>
                <a:cs typeface="Times New Roman" panose="02020603050405020304" pitchFamily="18" charset="0"/>
              </a:rPr>
              <a:t>OBJECTIVES </a:t>
            </a:r>
            <a:endParaRPr lang="en-IN" dirty="0"/>
          </a:p>
        </p:txBody>
      </p:sp>
      <p:sp>
        <p:nvSpPr>
          <p:cNvPr id="11" name="Content Placeholder 14">
            <a:extLst>
              <a:ext uri="{FF2B5EF4-FFF2-40B4-BE49-F238E27FC236}">
                <a16:creationId xmlns:a16="http://schemas.microsoft.com/office/drawing/2014/main" id="{BF32C630-FEFF-BDA8-1BA9-92413C7899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448033" y="1949924"/>
            <a:ext cx="6247934" cy="351615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>
              <a:buFont typeface="Wingdings" panose="05000000000000000000" pitchFamily="2" charset="2"/>
              <a:buChar char="ü"/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IN" dirty="0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marL="806450" lvl="2" indent="-271463" defTabSz="896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2646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5781B7-8C29-2C7A-FCFB-2222830995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FB88B6F-D6E8-14C8-F15C-827E06A53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44" y="332656"/>
            <a:ext cx="6954791" cy="706437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5846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5781B7-8C29-2C7A-FCFB-2222830995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5" name="SmartArt Placeholder 4">
            <a:extLst>
              <a:ext uri="{FF2B5EF4-FFF2-40B4-BE49-F238E27FC236}">
                <a16:creationId xmlns:a16="http://schemas.microsoft.com/office/drawing/2014/main" id="{E6DDB958-F26C-79B3-584C-436D46D63CF5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415637" y="396219"/>
            <a:ext cx="8312727" cy="5409045"/>
          </a:xfrm>
        </p:spPr>
        <p:txBody>
          <a:bodyPr/>
          <a:lstStyle/>
          <a:p>
            <a:endParaRPr lang="en-IN"/>
          </a:p>
        </p:txBody>
      </p:sp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748329C8-EF0C-8A99-5CD7-4566AEE6A01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457200" y="6165304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94BD7CC6-8900-E2F6-CADF-1D39EBA245C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124200" y="616530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37321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nline Image Placeholder 16">
            <a:extLst>
              <a:ext uri="{FF2B5EF4-FFF2-40B4-BE49-F238E27FC236}">
                <a16:creationId xmlns:a16="http://schemas.microsoft.com/office/drawing/2014/main" id="{8CE4FDBB-7441-412E-4AB1-A4CE1DBC8DC3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404589" y="327570"/>
            <a:ext cx="7020988" cy="2533277"/>
          </a:xfrm>
          <a:prstGeom prst="roundRect">
            <a:avLst>
              <a:gd name="adj" fmla="val 5231"/>
            </a:avLst>
          </a:prstGeom>
        </p:spPr>
        <p:txBody>
          <a:bodyPr/>
          <a:lstStyle/>
          <a:p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722313" y="4069163"/>
            <a:ext cx="7772400" cy="181461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IN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marL="806450" lvl="2" indent="-271463" defTabSz="896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996953"/>
            <a:ext cx="7772400" cy="936104"/>
          </a:xfrm>
        </p:spPr>
        <p:txBody>
          <a:bodyPr anchor="b">
            <a:normAutofit/>
          </a:bodyPr>
          <a:lstStyle>
            <a:lvl1pPr algn="l">
              <a:defRPr sz="2800" b="1" cap="all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9A9720A-719A-4966-B2FF-6F0CD092D26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AC425A23-397F-267A-7D08-9EE0FCE44F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65304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4F18B7A4-073E-718B-B86E-C0202DF31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16530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4513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>
            <a:noAutofit/>
          </a:bodyPr>
          <a:lstStyle>
            <a:lvl1pPr algn="ctr">
              <a:defRPr sz="2800" b="1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US"/>
            </a:lvl1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11E31-38DC-4F5D-BD24-1ABD59E96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Content Placeholder 14">
            <a:extLst>
              <a:ext uri="{FF2B5EF4-FFF2-40B4-BE49-F238E27FC236}">
                <a16:creationId xmlns:a16="http://schemas.microsoft.com/office/drawing/2014/main" id="{30E40965-1BC6-663C-E865-D152E866D65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3488" y="280287"/>
            <a:ext cx="7557025" cy="451686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IN" dirty="0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marL="806450" lvl="2" indent="-271463" defTabSz="896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67A23D82-8F04-EB2D-9C7E-C97F1A4856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65304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1948D706-DBC6-9153-6EB2-B09168275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16530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22966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6885903" cy="706090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Content Placeholder 17"/>
          <p:cNvSpPr>
            <a:spLocks noGrp="1"/>
          </p:cNvSpPr>
          <p:nvPr>
            <p:ph sz="quarter" idx="15"/>
          </p:nvPr>
        </p:nvSpPr>
        <p:spPr>
          <a:xfrm>
            <a:off x="4644008" y="1186004"/>
            <a:ext cx="3960813" cy="4682984"/>
          </a:xfrm>
        </p:spPr>
        <p:txBody>
          <a:bodyPr/>
          <a:lstStyle>
            <a:lvl1pPr marL="271463" indent="-271463">
              <a:spcBef>
                <a:spcPts val="0"/>
              </a:spcBef>
              <a:spcAft>
                <a:spcPts val="600"/>
              </a:spcAft>
              <a:defRPr/>
            </a:lvl1pPr>
            <a:lvl2pPr marL="533400" indent="-261938">
              <a:spcBef>
                <a:spcPts val="0"/>
              </a:spcBef>
              <a:spcAft>
                <a:spcPts val="600"/>
              </a:spcAft>
              <a:defRPr/>
            </a:lvl2pPr>
            <a:lvl3pPr marL="806450" indent="-273050">
              <a:spcBef>
                <a:spcPts val="0"/>
              </a:spcBef>
              <a:spcAft>
                <a:spcPts val="600"/>
              </a:spcAft>
              <a:defRPr/>
            </a:lvl3pPr>
            <a:lvl4pPr marL="1077913" indent="-271463">
              <a:spcBef>
                <a:spcPts val="0"/>
              </a:spcBef>
              <a:spcAft>
                <a:spcPts val="600"/>
              </a:spcAft>
              <a:defRPr/>
            </a:lvl4pPr>
            <a:lvl5pPr marL="1349375" indent="-271463"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4" name="Content Placeholder 17"/>
          <p:cNvSpPr>
            <a:spLocks noGrp="1"/>
          </p:cNvSpPr>
          <p:nvPr>
            <p:ph sz="quarter" idx="13"/>
          </p:nvPr>
        </p:nvSpPr>
        <p:spPr>
          <a:xfrm>
            <a:off x="539179" y="1186004"/>
            <a:ext cx="3960813" cy="4682984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IN" dirty="0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marL="806450" lvl="2" indent="-271463" defTabSz="896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3849B33B-081C-439F-9F1A-97E4D57D0A5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2FAC7B49-BB48-AA48-5FA8-8D0FAE4613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65304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DD3D4932-B24D-52C2-A85B-5CFDA8039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16530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86951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BAA5DA8-80C3-4747-960E-0782503BD404}"/>
              </a:ext>
            </a:extLst>
          </p:cNvPr>
          <p:cNvSpPr/>
          <p:nvPr/>
        </p:nvSpPr>
        <p:spPr>
          <a:xfrm>
            <a:off x="323528" y="260737"/>
            <a:ext cx="7146482" cy="71438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reflection blurRad="6350" stA="50000" endA="300" endPos="385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22400" y="260648"/>
            <a:ext cx="6885903" cy="7060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4" name="Content Placeholder 17"/>
          <p:cNvSpPr>
            <a:spLocks noGrp="1"/>
          </p:cNvSpPr>
          <p:nvPr>
            <p:ph sz="quarter" idx="13"/>
          </p:nvPr>
        </p:nvSpPr>
        <p:spPr>
          <a:xfrm>
            <a:off x="793487" y="1186004"/>
            <a:ext cx="7560000" cy="46800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IN" dirty="0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marL="806450" lvl="2" indent="-271463" defTabSz="896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3849B33B-081C-439F-9F1A-97E4D57D0A5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2FAC7B49-BB48-AA48-5FA8-8D0FAE4613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65304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DD3D4932-B24D-52C2-A85B-5CFDA8039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16530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31822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6EB9C35-4E26-FC0D-3110-71FB7D797FFE}"/>
              </a:ext>
            </a:extLst>
          </p:cNvPr>
          <p:cNvSpPr/>
          <p:nvPr userDrawn="1"/>
        </p:nvSpPr>
        <p:spPr>
          <a:xfrm>
            <a:off x="4774728" y="1705073"/>
            <a:ext cx="3960000" cy="4460231"/>
          </a:xfrm>
          <a:prstGeom prst="roundRect">
            <a:avLst>
              <a:gd name="adj" fmla="val 723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234B806-4F9A-7EA6-9D23-39194FC849CD}"/>
              </a:ext>
            </a:extLst>
          </p:cNvPr>
          <p:cNvSpPr/>
          <p:nvPr userDrawn="1"/>
        </p:nvSpPr>
        <p:spPr>
          <a:xfrm>
            <a:off x="421376" y="1705073"/>
            <a:ext cx="3960000" cy="4460231"/>
          </a:xfrm>
          <a:prstGeom prst="roundRect">
            <a:avLst>
              <a:gd name="adj" fmla="val 723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CFB4EC3E-45CA-6D99-4CA7-B484225FF1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5552" y="971236"/>
            <a:ext cx="1445000" cy="1156000"/>
          </a:xfrm>
          <a:prstGeom prst="rect">
            <a:avLst/>
          </a:prstGeom>
        </p:spPr>
      </p:pic>
      <p:sp>
        <p:nvSpPr>
          <p:cNvPr id="10" name="object 2">
            <a:extLst>
              <a:ext uri="{FF2B5EF4-FFF2-40B4-BE49-F238E27FC236}">
                <a16:creationId xmlns:a16="http://schemas.microsoft.com/office/drawing/2014/main" id="{09DD2A82-F318-4709-BAEA-467657E32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3850" y="5343525"/>
            <a:ext cx="889000" cy="890588"/>
          </a:xfrm>
          <a:prstGeom prst="rect">
            <a:avLst/>
          </a:prstGeom>
          <a:blipFill dpi="0"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400000"/>
                      </a14:imgEffect>
                      <a14:imgEffect>
                        <a14:brightnessContrast contrast="-4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3409" y="1052736"/>
            <a:ext cx="3672898" cy="639762"/>
          </a:xfrm>
        </p:spPr>
        <p:txBody>
          <a:bodyPr anchor="b"/>
          <a:lstStyle>
            <a:lvl1pPr marL="0" indent="0" algn="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6430" y="1052736"/>
            <a:ext cx="3674341" cy="63976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3"/>
          </p:nvPr>
        </p:nvSpPr>
        <p:spPr>
          <a:xfrm>
            <a:off x="457200" y="1919288"/>
            <a:ext cx="3960813" cy="3949700"/>
          </a:xfrm>
        </p:spPr>
        <p:txBody>
          <a:bodyPr/>
          <a:lstStyle>
            <a:lvl1pPr marL="271463" indent="-271463">
              <a:defRPr>
                <a:solidFill>
                  <a:schemeClr val="tx1"/>
                </a:solidFill>
              </a:defRPr>
            </a:lvl1pPr>
            <a:lvl2pPr marL="533400" indent="-261938">
              <a:defRPr>
                <a:solidFill>
                  <a:schemeClr val="tx1"/>
                </a:solidFill>
              </a:defRPr>
            </a:lvl2pPr>
            <a:lvl3pPr marL="806450" indent="-273050">
              <a:defRPr>
                <a:solidFill>
                  <a:schemeClr val="tx1"/>
                </a:solidFill>
              </a:defRPr>
            </a:lvl3pPr>
            <a:lvl4pPr marL="1077913" indent="-271463">
              <a:defRPr>
                <a:solidFill>
                  <a:schemeClr val="tx1"/>
                </a:solidFill>
              </a:defRPr>
            </a:lvl4pPr>
            <a:lvl5pPr marL="1349375" indent="-271463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9" name="Content Placeholder 17"/>
          <p:cNvSpPr>
            <a:spLocks noGrp="1"/>
          </p:cNvSpPr>
          <p:nvPr>
            <p:ph sz="quarter" idx="14"/>
          </p:nvPr>
        </p:nvSpPr>
        <p:spPr>
          <a:xfrm>
            <a:off x="4742885" y="1919288"/>
            <a:ext cx="3960813" cy="3949700"/>
          </a:xfrm>
        </p:spPr>
        <p:txBody>
          <a:bodyPr/>
          <a:lstStyle>
            <a:lvl1pPr marL="271463" indent="-271463">
              <a:defRPr>
                <a:solidFill>
                  <a:schemeClr val="tx1"/>
                </a:solidFill>
              </a:defRPr>
            </a:lvl1pPr>
            <a:lvl2pPr marL="533400" indent="-261938">
              <a:defRPr>
                <a:solidFill>
                  <a:schemeClr val="tx1"/>
                </a:solidFill>
              </a:defRPr>
            </a:lvl2pPr>
            <a:lvl3pPr marL="806450" indent="-273050">
              <a:defRPr>
                <a:solidFill>
                  <a:schemeClr val="tx1"/>
                </a:solidFill>
              </a:defRPr>
            </a:lvl3pPr>
            <a:lvl4pPr marL="1077913" indent="-271463">
              <a:defRPr>
                <a:solidFill>
                  <a:schemeClr val="tx1"/>
                </a:solidFill>
              </a:defRPr>
            </a:lvl4pPr>
            <a:lvl5pPr marL="1349375" indent="-271463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0BA6B086-B182-4D6A-9AFE-2882EB2A037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57C9D547-7D56-5C57-E4F5-A49B028388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65304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252B0-A0A3-4FBD-3210-2054A86F2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16530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2C3064F-E5DA-A779-402D-F6EE2A83D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44" y="332656"/>
            <a:ext cx="6954791" cy="706437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03623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ECD2732-1735-4792-B403-0B84B1868B06}"/>
              </a:ext>
            </a:extLst>
          </p:cNvPr>
          <p:cNvSpPr/>
          <p:nvPr/>
        </p:nvSpPr>
        <p:spPr>
          <a:xfrm>
            <a:off x="314474" y="244334"/>
            <a:ext cx="2962125" cy="6355642"/>
          </a:xfrm>
          <a:custGeom>
            <a:avLst/>
            <a:gdLst>
              <a:gd name="connsiteX0" fmla="*/ 0 w 2953072"/>
              <a:gd name="connsiteY0" fmla="*/ 0 h 6336704"/>
              <a:gd name="connsiteX1" fmla="*/ 2953072 w 2953072"/>
              <a:gd name="connsiteY1" fmla="*/ 0 h 6336704"/>
              <a:gd name="connsiteX2" fmla="*/ 2953072 w 2953072"/>
              <a:gd name="connsiteY2" fmla="*/ 6336704 h 6336704"/>
              <a:gd name="connsiteX3" fmla="*/ 0 w 2953072"/>
              <a:gd name="connsiteY3" fmla="*/ 6336704 h 6336704"/>
              <a:gd name="connsiteX4" fmla="*/ 0 w 2953072"/>
              <a:gd name="connsiteY4" fmla="*/ 0 h 6336704"/>
              <a:gd name="connsiteX0" fmla="*/ 0 w 2953072"/>
              <a:gd name="connsiteY0" fmla="*/ 0 h 6336704"/>
              <a:gd name="connsiteX1" fmla="*/ 2953072 w 2953072"/>
              <a:gd name="connsiteY1" fmla="*/ 0 h 6336704"/>
              <a:gd name="connsiteX2" fmla="*/ 2953072 w 2953072"/>
              <a:gd name="connsiteY2" fmla="*/ 6336704 h 6336704"/>
              <a:gd name="connsiteX3" fmla="*/ 0 w 2953072"/>
              <a:gd name="connsiteY3" fmla="*/ 6336704 h 6336704"/>
              <a:gd name="connsiteX4" fmla="*/ 0 w 2953072"/>
              <a:gd name="connsiteY4" fmla="*/ 0 h 6336704"/>
              <a:gd name="connsiteX0" fmla="*/ 0 w 2953072"/>
              <a:gd name="connsiteY0" fmla="*/ 16204 h 6352908"/>
              <a:gd name="connsiteX1" fmla="*/ 255894 w 2953072"/>
              <a:gd name="connsiteY1" fmla="*/ 0 h 6352908"/>
              <a:gd name="connsiteX2" fmla="*/ 2953072 w 2953072"/>
              <a:gd name="connsiteY2" fmla="*/ 16204 h 6352908"/>
              <a:gd name="connsiteX3" fmla="*/ 2953072 w 2953072"/>
              <a:gd name="connsiteY3" fmla="*/ 6352908 h 6352908"/>
              <a:gd name="connsiteX4" fmla="*/ 0 w 2953072"/>
              <a:gd name="connsiteY4" fmla="*/ 6352908 h 6352908"/>
              <a:gd name="connsiteX5" fmla="*/ 0 w 2953072"/>
              <a:gd name="connsiteY5" fmla="*/ 16204 h 6352908"/>
              <a:gd name="connsiteX0" fmla="*/ 0 w 2953072"/>
              <a:gd name="connsiteY0" fmla="*/ 233488 h 6352908"/>
              <a:gd name="connsiteX1" fmla="*/ 255894 w 2953072"/>
              <a:gd name="connsiteY1" fmla="*/ 0 h 6352908"/>
              <a:gd name="connsiteX2" fmla="*/ 2953072 w 2953072"/>
              <a:gd name="connsiteY2" fmla="*/ 16204 h 6352908"/>
              <a:gd name="connsiteX3" fmla="*/ 2953072 w 2953072"/>
              <a:gd name="connsiteY3" fmla="*/ 6352908 h 6352908"/>
              <a:gd name="connsiteX4" fmla="*/ 0 w 2953072"/>
              <a:gd name="connsiteY4" fmla="*/ 6352908 h 6352908"/>
              <a:gd name="connsiteX5" fmla="*/ 0 w 2953072"/>
              <a:gd name="connsiteY5" fmla="*/ 233488 h 6352908"/>
              <a:gd name="connsiteX0" fmla="*/ 0 w 2953072"/>
              <a:gd name="connsiteY0" fmla="*/ 233488 h 6352908"/>
              <a:gd name="connsiteX1" fmla="*/ 255894 w 2953072"/>
              <a:gd name="connsiteY1" fmla="*/ 0 h 6352908"/>
              <a:gd name="connsiteX2" fmla="*/ 2953072 w 2953072"/>
              <a:gd name="connsiteY2" fmla="*/ 16204 h 6352908"/>
              <a:gd name="connsiteX3" fmla="*/ 2953072 w 2953072"/>
              <a:gd name="connsiteY3" fmla="*/ 6352908 h 6352908"/>
              <a:gd name="connsiteX4" fmla="*/ 0 w 2953072"/>
              <a:gd name="connsiteY4" fmla="*/ 6352908 h 6352908"/>
              <a:gd name="connsiteX5" fmla="*/ 0 w 2953072"/>
              <a:gd name="connsiteY5" fmla="*/ 233488 h 6352908"/>
              <a:gd name="connsiteX0" fmla="*/ 0 w 2953072"/>
              <a:gd name="connsiteY0" fmla="*/ 233588 h 6353008"/>
              <a:gd name="connsiteX1" fmla="*/ 255894 w 2953072"/>
              <a:gd name="connsiteY1" fmla="*/ 100 h 6353008"/>
              <a:gd name="connsiteX2" fmla="*/ 2953072 w 2953072"/>
              <a:gd name="connsiteY2" fmla="*/ 16304 h 6353008"/>
              <a:gd name="connsiteX3" fmla="*/ 2953072 w 2953072"/>
              <a:gd name="connsiteY3" fmla="*/ 6353008 h 6353008"/>
              <a:gd name="connsiteX4" fmla="*/ 0 w 2953072"/>
              <a:gd name="connsiteY4" fmla="*/ 6353008 h 6353008"/>
              <a:gd name="connsiteX5" fmla="*/ 0 w 2953072"/>
              <a:gd name="connsiteY5" fmla="*/ 233588 h 6353008"/>
              <a:gd name="connsiteX0" fmla="*/ 0 w 2953072"/>
              <a:gd name="connsiteY0" fmla="*/ 224545 h 6353018"/>
              <a:gd name="connsiteX1" fmla="*/ 255894 w 2953072"/>
              <a:gd name="connsiteY1" fmla="*/ 110 h 6353018"/>
              <a:gd name="connsiteX2" fmla="*/ 2953072 w 2953072"/>
              <a:gd name="connsiteY2" fmla="*/ 16314 h 6353018"/>
              <a:gd name="connsiteX3" fmla="*/ 2953072 w 2953072"/>
              <a:gd name="connsiteY3" fmla="*/ 6353018 h 6353018"/>
              <a:gd name="connsiteX4" fmla="*/ 0 w 2953072"/>
              <a:gd name="connsiteY4" fmla="*/ 6353018 h 6353018"/>
              <a:gd name="connsiteX5" fmla="*/ 0 w 2953072"/>
              <a:gd name="connsiteY5" fmla="*/ 224545 h 6353018"/>
              <a:gd name="connsiteX0" fmla="*/ 0 w 2953072"/>
              <a:gd name="connsiteY0" fmla="*/ 224545 h 6355642"/>
              <a:gd name="connsiteX1" fmla="*/ 255894 w 2953072"/>
              <a:gd name="connsiteY1" fmla="*/ 110 h 6355642"/>
              <a:gd name="connsiteX2" fmla="*/ 2953072 w 2953072"/>
              <a:gd name="connsiteY2" fmla="*/ 16314 h 6355642"/>
              <a:gd name="connsiteX3" fmla="*/ 2953072 w 2953072"/>
              <a:gd name="connsiteY3" fmla="*/ 6353018 h 6355642"/>
              <a:gd name="connsiteX4" fmla="*/ 192520 w 2953072"/>
              <a:gd name="connsiteY4" fmla="*/ 6355642 h 6355642"/>
              <a:gd name="connsiteX5" fmla="*/ 0 w 2953072"/>
              <a:gd name="connsiteY5" fmla="*/ 6353018 h 6355642"/>
              <a:gd name="connsiteX6" fmla="*/ 0 w 2953072"/>
              <a:gd name="connsiteY6" fmla="*/ 224545 h 6355642"/>
              <a:gd name="connsiteX0" fmla="*/ 9053 w 2962125"/>
              <a:gd name="connsiteY0" fmla="*/ 224545 h 6355642"/>
              <a:gd name="connsiteX1" fmla="*/ 264947 w 2962125"/>
              <a:gd name="connsiteY1" fmla="*/ 110 h 6355642"/>
              <a:gd name="connsiteX2" fmla="*/ 2962125 w 2962125"/>
              <a:gd name="connsiteY2" fmla="*/ 16314 h 6355642"/>
              <a:gd name="connsiteX3" fmla="*/ 2962125 w 2962125"/>
              <a:gd name="connsiteY3" fmla="*/ 6353018 h 6355642"/>
              <a:gd name="connsiteX4" fmla="*/ 201573 w 2962125"/>
              <a:gd name="connsiteY4" fmla="*/ 6355642 h 6355642"/>
              <a:gd name="connsiteX5" fmla="*/ 0 w 2962125"/>
              <a:gd name="connsiteY5" fmla="*/ 6126681 h 6355642"/>
              <a:gd name="connsiteX6" fmla="*/ 9053 w 2962125"/>
              <a:gd name="connsiteY6" fmla="*/ 224545 h 6355642"/>
              <a:gd name="connsiteX0" fmla="*/ 9053 w 2962125"/>
              <a:gd name="connsiteY0" fmla="*/ 224545 h 6355642"/>
              <a:gd name="connsiteX1" fmla="*/ 264947 w 2962125"/>
              <a:gd name="connsiteY1" fmla="*/ 110 h 6355642"/>
              <a:gd name="connsiteX2" fmla="*/ 2962125 w 2962125"/>
              <a:gd name="connsiteY2" fmla="*/ 16314 h 6355642"/>
              <a:gd name="connsiteX3" fmla="*/ 2962125 w 2962125"/>
              <a:gd name="connsiteY3" fmla="*/ 6353018 h 6355642"/>
              <a:gd name="connsiteX4" fmla="*/ 201573 w 2962125"/>
              <a:gd name="connsiteY4" fmla="*/ 6355642 h 6355642"/>
              <a:gd name="connsiteX5" fmla="*/ 0 w 2962125"/>
              <a:gd name="connsiteY5" fmla="*/ 6126681 h 6355642"/>
              <a:gd name="connsiteX6" fmla="*/ 9053 w 2962125"/>
              <a:gd name="connsiteY6" fmla="*/ 224545 h 6355642"/>
              <a:gd name="connsiteX0" fmla="*/ 9053 w 2962125"/>
              <a:gd name="connsiteY0" fmla="*/ 224545 h 6355642"/>
              <a:gd name="connsiteX1" fmla="*/ 264947 w 2962125"/>
              <a:gd name="connsiteY1" fmla="*/ 110 h 6355642"/>
              <a:gd name="connsiteX2" fmla="*/ 2962125 w 2962125"/>
              <a:gd name="connsiteY2" fmla="*/ 16314 h 6355642"/>
              <a:gd name="connsiteX3" fmla="*/ 2962125 w 2962125"/>
              <a:gd name="connsiteY3" fmla="*/ 6353018 h 6355642"/>
              <a:gd name="connsiteX4" fmla="*/ 201573 w 2962125"/>
              <a:gd name="connsiteY4" fmla="*/ 6355642 h 6355642"/>
              <a:gd name="connsiteX5" fmla="*/ 0 w 2962125"/>
              <a:gd name="connsiteY5" fmla="*/ 6126681 h 6355642"/>
              <a:gd name="connsiteX6" fmla="*/ 9053 w 2962125"/>
              <a:gd name="connsiteY6" fmla="*/ 224545 h 6355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62125" h="6355642">
                <a:moveTo>
                  <a:pt x="9053" y="224545"/>
                </a:moveTo>
                <a:cubicBezTo>
                  <a:pt x="21923" y="83342"/>
                  <a:pt x="134381" y="-3543"/>
                  <a:pt x="264947" y="110"/>
                </a:cubicBezTo>
                <a:lnTo>
                  <a:pt x="2962125" y="16314"/>
                </a:lnTo>
                <a:lnTo>
                  <a:pt x="2962125" y="6353018"/>
                </a:lnTo>
                <a:lnTo>
                  <a:pt x="201573" y="6355642"/>
                </a:lnTo>
                <a:cubicBezTo>
                  <a:pt x="107222" y="6351749"/>
                  <a:pt x="3816" y="6266376"/>
                  <a:pt x="0" y="6126681"/>
                </a:cubicBezTo>
                <a:cubicBezTo>
                  <a:pt x="3018" y="4159302"/>
                  <a:pt x="6035" y="2191924"/>
                  <a:pt x="9053" y="224545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4002154-6E5B-4125-89E6-A0315FB0FAA8}"/>
              </a:ext>
            </a:extLst>
          </p:cNvPr>
          <p:cNvCxnSpPr>
            <a:cxnSpLocks/>
          </p:cNvCxnSpPr>
          <p:nvPr/>
        </p:nvCxnSpPr>
        <p:spPr>
          <a:xfrm>
            <a:off x="3491880" y="554038"/>
            <a:ext cx="0" cy="5749925"/>
          </a:xfrm>
          <a:prstGeom prst="line">
            <a:avLst/>
          </a:prstGeom>
          <a:ln w="19050">
            <a:solidFill>
              <a:srgbClr val="D39F5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36" y="1464972"/>
            <a:ext cx="2729029" cy="3928057"/>
          </a:xfrm>
        </p:spPr>
        <p:txBody>
          <a:bodyPr>
            <a:noAutofit/>
          </a:bodyPr>
          <a:lstStyle>
            <a:lvl1pPr algn="ctr">
              <a:defRPr sz="2800" b="1">
                <a:solidFill>
                  <a:srgbClr val="C0000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1924" y="2060848"/>
            <a:ext cx="4834876" cy="384929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IN" dirty="0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marL="806450" lvl="2" indent="-271463" defTabSz="896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3851275" y="404664"/>
            <a:ext cx="3529037" cy="1428363"/>
          </a:xfrm>
        </p:spPr>
        <p:txBody>
          <a:bodyPr anchor="ctr">
            <a:noAutofit/>
          </a:bodyPr>
          <a:lstStyle>
            <a:lvl1pPr marL="0" indent="0">
              <a:buNone/>
              <a:defRPr sz="2000" b="1">
                <a:solidFill>
                  <a:srgbClr val="C00000"/>
                </a:solidFill>
              </a:defRPr>
            </a:lvl1pPr>
            <a:lvl2pPr>
              <a:defRPr sz="3200">
                <a:solidFill>
                  <a:srgbClr val="C00000"/>
                </a:solidFill>
              </a:defRPr>
            </a:lvl2pPr>
            <a:lvl3pPr>
              <a:defRPr sz="3200">
                <a:solidFill>
                  <a:srgbClr val="C00000"/>
                </a:solidFill>
              </a:defRPr>
            </a:lvl3pPr>
            <a:lvl4pPr>
              <a:defRPr sz="3200">
                <a:solidFill>
                  <a:srgbClr val="C00000"/>
                </a:solidFill>
              </a:defRPr>
            </a:lvl4pPr>
            <a:lvl5pPr>
              <a:defRPr sz="3200">
                <a:solidFill>
                  <a:srgbClr val="C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23FE2FD6-5C63-491D-B8CD-41062369C43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9A449D06-60B3-08CD-9369-C304B2D7A7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65304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E98A2A54-8DAC-BBF8-E2E2-A989DBA03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16530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20832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ECD2732-1735-4792-B403-0B84B1868B06}"/>
              </a:ext>
            </a:extLst>
          </p:cNvPr>
          <p:cNvSpPr/>
          <p:nvPr/>
        </p:nvSpPr>
        <p:spPr>
          <a:xfrm>
            <a:off x="0" y="1985226"/>
            <a:ext cx="546821" cy="28875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4002154-6E5B-4125-89E6-A0315FB0FAA8}"/>
              </a:ext>
            </a:extLst>
          </p:cNvPr>
          <p:cNvCxnSpPr>
            <a:cxnSpLocks/>
          </p:cNvCxnSpPr>
          <p:nvPr userDrawn="1"/>
        </p:nvCxnSpPr>
        <p:spPr>
          <a:xfrm>
            <a:off x="3563888" y="1953689"/>
            <a:ext cx="0" cy="2950622"/>
          </a:xfrm>
          <a:prstGeom prst="line">
            <a:avLst/>
          </a:prstGeom>
          <a:ln w="19050">
            <a:solidFill>
              <a:srgbClr val="D39F5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821" y="814878"/>
            <a:ext cx="2729029" cy="5228244"/>
          </a:xfrm>
        </p:spPr>
        <p:txBody>
          <a:bodyPr>
            <a:noAutofit/>
          </a:bodyPr>
          <a:lstStyle>
            <a:lvl1pPr algn="l">
              <a:defRPr sz="2800" b="1">
                <a:solidFill>
                  <a:srgbClr val="C0000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3851276" y="764444"/>
            <a:ext cx="3529034" cy="10731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C00000"/>
                </a:solidFill>
              </a:defRPr>
            </a:lvl1pPr>
            <a:lvl2pPr>
              <a:defRPr sz="3200">
                <a:solidFill>
                  <a:srgbClr val="C00000"/>
                </a:solidFill>
              </a:defRPr>
            </a:lvl2pPr>
            <a:lvl3pPr>
              <a:defRPr sz="3200">
                <a:solidFill>
                  <a:srgbClr val="C00000"/>
                </a:solidFill>
              </a:defRPr>
            </a:lvl3pPr>
            <a:lvl4pPr>
              <a:defRPr sz="3200">
                <a:solidFill>
                  <a:srgbClr val="C00000"/>
                </a:solidFill>
              </a:defRPr>
            </a:lvl4pPr>
            <a:lvl5pPr>
              <a:defRPr sz="3200">
                <a:solidFill>
                  <a:srgbClr val="C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23FE2FD6-5C63-491D-B8CD-41062369C43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B340470-5BD3-9908-3B9E-50949C14D96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51275" y="1982440"/>
            <a:ext cx="4835525" cy="346268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lang="en-IN"/>
            </a:lvl1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endParaRPr lang="en-IN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8D138C5A-0996-E274-077D-A16E50E436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65304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EC4F0AE1-3152-F183-4104-3E4F7CFDD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16530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92492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rrow: Pentagon 4">
            <a:extLst>
              <a:ext uri="{FF2B5EF4-FFF2-40B4-BE49-F238E27FC236}">
                <a16:creationId xmlns:a16="http://schemas.microsoft.com/office/drawing/2014/main" id="{18406D02-29E7-4BA3-8AE8-96060357573C}"/>
              </a:ext>
            </a:extLst>
          </p:cNvPr>
          <p:cNvSpPr/>
          <p:nvPr/>
        </p:nvSpPr>
        <p:spPr>
          <a:xfrm>
            <a:off x="0" y="647774"/>
            <a:ext cx="6084888" cy="595164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AD38A2-1B3B-456E-AC97-85B2B96B1802}"/>
              </a:ext>
            </a:extLst>
          </p:cNvPr>
          <p:cNvSpPr/>
          <p:nvPr/>
        </p:nvSpPr>
        <p:spPr>
          <a:xfrm>
            <a:off x="639763" y="1920875"/>
            <a:ext cx="4219575" cy="139700"/>
          </a:xfrm>
          <a:prstGeom prst="rect">
            <a:avLst/>
          </a:prstGeom>
          <a:solidFill>
            <a:srgbClr val="D39F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88611B-7196-4959-974D-E888F31EAA2A}"/>
              </a:ext>
            </a:extLst>
          </p:cNvPr>
          <p:cNvSpPr/>
          <p:nvPr/>
        </p:nvSpPr>
        <p:spPr>
          <a:xfrm>
            <a:off x="639763" y="5084763"/>
            <a:ext cx="4219575" cy="141287"/>
          </a:xfrm>
          <a:prstGeom prst="rect">
            <a:avLst/>
          </a:prstGeom>
          <a:solidFill>
            <a:srgbClr val="D39F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665810"/>
            <a:ext cx="5486400" cy="566738"/>
          </a:xfrm>
        </p:spPr>
        <p:txBody>
          <a:bodyPr>
            <a:normAutofit/>
          </a:bodyPr>
          <a:lstStyle>
            <a:lvl1pPr algn="l">
              <a:defRPr sz="2800" b="1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639763" y="2152650"/>
            <a:ext cx="4219575" cy="28162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IN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806450" lvl="2" indent="-273050">
              <a:spcBef>
                <a:spcPts val="0"/>
              </a:spcBef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4"/>
          </p:nvPr>
        </p:nvSpPr>
        <p:spPr>
          <a:xfrm>
            <a:off x="5022850" y="1920875"/>
            <a:ext cx="3663950" cy="33051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IN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806450" lvl="2" indent="-273050">
              <a:spcBef>
                <a:spcPts val="0"/>
              </a:spcBef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636F29DE-8A80-44A6-9533-F46E5B05F2E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0AB432A3-E1CF-7BD8-E24A-A7F69E3813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65304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FACC4F3C-5B7C-AEA3-273C-E93AADF8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16530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62901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55843F5-5FB0-4337-86CE-56BE932DA5C7}"/>
              </a:ext>
            </a:extLst>
          </p:cNvPr>
          <p:cNvCxnSpPr/>
          <p:nvPr/>
        </p:nvCxnSpPr>
        <p:spPr>
          <a:xfrm>
            <a:off x="3570288" y="333375"/>
            <a:ext cx="0" cy="5749925"/>
          </a:xfrm>
          <a:prstGeom prst="line">
            <a:avLst/>
          </a:prstGeom>
          <a:ln w="19050">
            <a:solidFill>
              <a:srgbClr val="D39F5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0688"/>
            <a:ext cx="3008313" cy="1535537"/>
          </a:xfrm>
        </p:spPr>
        <p:txBody>
          <a:bodyPr anchor="b">
            <a:noAutofit/>
          </a:bodyPr>
          <a:lstStyle>
            <a:lvl1pPr algn="r">
              <a:defRPr sz="2800" b="1">
                <a:solidFill>
                  <a:srgbClr val="C0000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1187FDD4-37EE-46DC-8636-EB162B68ABE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4" name="Content Placeholder 14">
            <a:extLst>
              <a:ext uri="{FF2B5EF4-FFF2-40B4-BE49-F238E27FC236}">
                <a16:creationId xmlns:a16="http://schemas.microsoft.com/office/drawing/2014/main" id="{62CB08CA-C774-8E2E-A47B-B555E156F1F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675064" y="548680"/>
            <a:ext cx="4675449" cy="547260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IN" dirty="0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806450" lvl="2" indent="-273050">
              <a:spcBef>
                <a:spcPts val="0"/>
              </a:spcBef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/>
              <a:t>Fifth level</a:t>
            </a:r>
            <a:endParaRPr lang="en-IN" dirty="0"/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EA1C2EC1-96B8-0C9A-C076-5CD605257E8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93489" y="2276872"/>
            <a:ext cx="2672024" cy="351857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IN" dirty="0"/>
            </a:lvl5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Click to edit Master text styles</a:t>
            </a:r>
          </a:p>
          <a:p>
            <a:pPr marL="533400" lvl="1" indent="-261938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marL="806450" lvl="2" indent="-273050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marL="1077913" lvl="3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marL="1349375" lvl="4" indent="-271463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F99904D3-B422-E4EE-CEAD-FC9A5B7F2D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165304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78BE334F-317B-0806-1F1B-6462AA202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16530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53829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752"/>
            <a:ext cx="3008313" cy="960372"/>
          </a:xfrm>
        </p:spPr>
        <p:txBody>
          <a:bodyPr anchor="b">
            <a:noAutofit/>
          </a:bodyPr>
          <a:lstStyle>
            <a:lvl1pPr algn="l">
              <a:defRPr sz="2800" b="1">
                <a:solidFill>
                  <a:srgbClr val="C00000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276872"/>
            <a:ext cx="3008313" cy="3841417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165304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16530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0DA268-098C-4FE3-9897-C772530CB6A8}"/>
              </a:ext>
            </a:extLst>
          </p:cNvPr>
          <p:cNvCxnSpPr/>
          <p:nvPr/>
        </p:nvCxnSpPr>
        <p:spPr>
          <a:xfrm>
            <a:off x="3570487" y="332656"/>
            <a:ext cx="0" cy="5750559"/>
          </a:xfrm>
          <a:prstGeom prst="line">
            <a:avLst/>
          </a:prstGeom>
          <a:ln w="19050">
            <a:solidFill>
              <a:srgbClr val="D39F5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46D24CC9-65CF-46C8-6C55-428B8E4B637C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3708400" y="692696"/>
            <a:ext cx="4978400" cy="517092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IN"/>
            </a:lvl1pPr>
          </a:lstStyle>
          <a:p>
            <a:pPr marL="271463" lvl="0" indent="-271463">
              <a:spcBef>
                <a:spcPts val="0"/>
              </a:spcBef>
              <a:spcAft>
                <a:spcPts val="600"/>
              </a:spcAft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937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7ED9451-C273-6C4B-0F6E-17D3ED886C66}"/>
              </a:ext>
            </a:extLst>
          </p:cNvPr>
          <p:cNvSpPr/>
          <p:nvPr userDrawn="1"/>
        </p:nvSpPr>
        <p:spPr>
          <a:xfrm>
            <a:off x="343800" y="279000"/>
            <a:ext cx="8456400" cy="6300000"/>
          </a:xfrm>
          <a:custGeom>
            <a:avLst/>
            <a:gdLst>
              <a:gd name="connsiteX0" fmla="*/ 145089 w 8456400"/>
              <a:gd name="connsiteY0" fmla="*/ 0 h 6300000"/>
              <a:gd name="connsiteX1" fmla="*/ 7126200 w 8456400"/>
              <a:gd name="connsiteY1" fmla="*/ 0 h 6300000"/>
              <a:gd name="connsiteX2" fmla="*/ 7126200 w 8456400"/>
              <a:gd name="connsiteY2" fmla="*/ 640048 h 6300000"/>
              <a:gd name="connsiteX3" fmla="*/ 7287152 w 8456400"/>
              <a:gd name="connsiteY3" fmla="*/ 801000 h 6300000"/>
              <a:gd name="connsiteX4" fmla="*/ 8456400 w 8456400"/>
              <a:gd name="connsiteY4" fmla="*/ 801000 h 6300000"/>
              <a:gd name="connsiteX5" fmla="*/ 8456400 w 8456400"/>
              <a:gd name="connsiteY5" fmla="*/ 6154911 h 6300000"/>
              <a:gd name="connsiteX6" fmla="*/ 8311311 w 8456400"/>
              <a:gd name="connsiteY6" fmla="*/ 6300000 h 6300000"/>
              <a:gd name="connsiteX7" fmla="*/ 145089 w 8456400"/>
              <a:gd name="connsiteY7" fmla="*/ 6300000 h 6300000"/>
              <a:gd name="connsiteX8" fmla="*/ 0 w 8456400"/>
              <a:gd name="connsiteY8" fmla="*/ 6154911 h 6300000"/>
              <a:gd name="connsiteX9" fmla="*/ 0 w 8456400"/>
              <a:gd name="connsiteY9" fmla="*/ 145089 h 6300000"/>
              <a:gd name="connsiteX10" fmla="*/ 145089 w 8456400"/>
              <a:gd name="connsiteY10" fmla="*/ 0 h 63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6400" h="6300000">
                <a:moveTo>
                  <a:pt x="145089" y="0"/>
                </a:moveTo>
                <a:lnTo>
                  <a:pt x="7126200" y="0"/>
                </a:lnTo>
                <a:lnTo>
                  <a:pt x="7126200" y="640048"/>
                </a:lnTo>
                <a:cubicBezTo>
                  <a:pt x="7126200" y="728939"/>
                  <a:pt x="7198261" y="801000"/>
                  <a:pt x="7287152" y="801000"/>
                </a:cubicBezTo>
                <a:lnTo>
                  <a:pt x="8456400" y="801000"/>
                </a:lnTo>
                <a:lnTo>
                  <a:pt x="8456400" y="6154911"/>
                </a:lnTo>
                <a:cubicBezTo>
                  <a:pt x="8456400" y="6235041"/>
                  <a:pt x="8391441" y="6300000"/>
                  <a:pt x="8311311" y="6300000"/>
                </a:cubicBezTo>
                <a:lnTo>
                  <a:pt x="145089" y="6300000"/>
                </a:lnTo>
                <a:cubicBezTo>
                  <a:pt x="64959" y="6300000"/>
                  <a:pt x="0" y="6235041"/>
                  <a:pt x="0" y="6154911"/>
                </a:cubicBezTo>
                <a:lnTo>
                  <a:pt x="0" y="145089"/>
                </a:lnTo>
                <a:cubicBezTo>
                  <a:pt x="0" y="64959"/>
                  <a:pt x="64959" y="0"/>
                  <a:pt x="145089" y="0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3C5F42EB-A19F-242F-B6B3-7135CAD47F9F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7900" y="149225"/>
            <a:ext cx="1424665" cy="878536"/>
          </a:xfrm>
          <a:prstGeom prst="rect">
            <a:avLst/>
          </a:prstGeom>
        </p:spPr>
      </p:pic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54FB0E3-F06A-49A8-A4EA-433CB221F7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20744" y="451099"/>
            <a:ext cx="6954791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4AB324CB-63B1-42D8-8FF7-EB59D6BD2A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  <a:endParaRPr lang="en-IN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38914-5865-453B-A2F9-41810CBD57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16530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8725687D-C4BB-4170-8738-C54F5060FC5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A11F45-4E4A-3032-DB79-5AEBC095FBBB}"/>
              </a:ext>
            </a:extLst>
          </p:cNvPr>
          <p:cNvSpPr/>
          <p:nvPr userDrawn="1"/>
        </p:nvSpPr>
        <p:spPr>
          <a:xfrm>
            <a:off x="8709142" y="6231593"/>
            <a:ext cx="430095" cy="2175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534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799" r:id="rId2"/>
    <p:sldLayoutId id="2147483801" r:id="rId3"/>
    <p:sldLayoutId id="2147483802" r:id="rId4"/>
    <p:sldLayoutId id="2147483809" r:id="rId5"/>
    <p:sldLayoutId id="2147483803" r:id="rId6"/>
    <p:sldLayoutId id="2147483818" r:id="rId7"/>
    <p:sldLayoutId id="2147483822" r:id="rId8"/>
    <p:sldLayoutId id="2147483823" r:id="rId9"/>
    <p:sldLayoutId id="2147483805" r:id="rId10"/>
    <p:sldLayoutId id="2147483806" r:id="rId11"/>
    <p:sldLayoutId id="2147483807" r:id="rId12"/>
    <p:sldLayoutId id="2147483824" r:id="rId13"/>
    <p:sldLayoutId id="2147483817" r:id="rId14"/>
    <p:sldLayoutId id="2147483819" r:id="rId15"/>
    <p:sldLayoutId id="2147483808" r:id="rId16"/>
    <p:sldLayoutId id="2147483810" r:id="rId17"/>
    <p:sldLayoutId id="2147483811" r:id="rId18"/>
    <p:sldLayoutId id="2147483825" r:id="rId19"/>
    <p:sldLayoutId id="2147483812" r:id="rId20"/>
    <p:sldLayoutId id="2147483813" r:id="rId21"/>
    <p:sldLayoutId id="2147483820" r:id="rId22"/>
    <p:sldLayoutId id="2147483814" r:id="rId23"/>
    <p:sldLayoutId id="2147483815" r:id="rId24"/>
    <p:sldLayoutId id="2147483821" r:id="rId25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/>
      <p:bldP spid="1027" grpId="0" uiExpand="1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rgbClr val="C00000"/>
          </a:solidFill>
          <a:latin typeface="+mn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C00000"/>
          </a:solidFill>
          <a:latin typeface="Calibri" panose="020F050202020403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C00000"/>
          </a:solidFill>
          <a:latin typeface="Calibri" panose="020F050202020403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C00000"/>
          </a:solidFill>
          <a:latin typeface="Calibri" panose="020F050202020403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C00000"/>
          </a:solidFill>
          <a:latin typeface="Calibri" panose="020F050202020403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C00000"/>
          </a:solidFill>
          <a:latin typeface="Calibri" panose="020F050202020403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C00000"/>
          </a:solidFill>
          <a:latin typeface="Calibri" panose="020F050202020403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C00000"/>
          </a:solidFill>
          <a:latin typeface="Calibri" panose="020F050202020403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C00000"/>
          </a:solidFill>
          <a:latin typeface="Calibri" panose="020F050202020403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buSzPct val="150000"/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buSzPct val="70000"/>
        <a:buFont typeface="Wingdings" panose="05000000000000000000" pitchFamily="2" charset="2"/>
        <a:buChar char="q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6468D6F9-932A-42D5-864C-4F101645F66D}"/>
              </a:ext>
            </a:extLst>
          </p:cNvPr>
          <p:cNvSpPr>
            <a:spLocks noGrp="1"/>
          </p:cNvSpPr>
          <p:nvPr/>
        </p:nvSpPr>
        <p:spPr>
          <a:xfrm>
            <a:off x="539552" y="476672"/>
            <a:ext cx="7992888" cy="576064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600" b="1" dirty="0">
              <a:solidFill>
                <a:schemeClr val="tx2"/>
              </a:solidFill>
            </a:endParaRPr>
          </a:p>
          <a:p>
            <a:endParaRPr lang="en-IN" sz="1600" b="1" dirty="0"/>
          </a:p>
          <a:p>
            <a:r>
              <a:rPr lang="en-US" sz="1600" b="1" dirty="0">
                <a:solidFill>
                  <a:schemeClr val="bg1"/>
                </a:solidFill>
              </a:rPr>
              <a:t>[AI-BASED REAL-TIME PAYMENT FRAUD 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DETECTION AND RISK SCORING SYSTEM</a:t>
            </a:r>
            <a:r>
              <a:rPr lang="en-IN" sz="1600" b="1" dirty="0">
                <a:solidFill>
                  <a:schemeClr val="bg1"/>
                </a:solidFill>
              </a:rPr>
              <a:t>]</a:t>
            </a:r>
          </a:p>
          <a:p>
            <a:endParaRPr lang="en-IN" sz="1600" dirty="0">
              <a:solidFill>
                <a:schemeClr val="tx2"/>
              </a:solidFill>
            </a:endParaRPr>
          </a:p>
          <a:p>
            <a:r>
              <a:rPr lang="en-US" sz="1600" dirty="0">
                <a:solidFill>
                  <a:schemeClr val="tx2"/>
                </a:solidFill>
              </a:rPr>
              <a:t>Project Presentation Submitted </a:t>
            </a:r>
          </a:p>
          <a:p>
            <a:endParaRPr lang="en-IN" sz="1600" dirty="0">
              <a:solidFill>
                <a:schemeClr val="tx2"/>
              </a:solidFill>
            </a:endParaRPr>
          </a:p>
          <a:p>
            <a:r>
              <a:rPr lang="en-IN" sz="1600" dirty="0">
                <a:solidFill>
                  <a:schemeClr val="tx2"/>
                </a:solidFill>
              </a:rPr>
              <a:t>To</a:t>
            </a:r>
          </a:p>
          <a:p>
            <a:endParaRPr lang="en-IN" sz="1600" dirty="0">
              <a:solidFill>
                <a:schemeClr val="tx2"/>
              </a:solidFill>
            </a:endParaRPr>
          </a:p>
          <a:p>
            <a:r>
              <a:rPr lang="en-IN" sz="1600" dirty="0">
                <a:solidFill>
                  <a:schemeClr val="tx2"/>
                </a:solidFill>
              </a:rPr>
              <a:t>Dr. D. Y. Patil Vidyapeeth, Centre For Online Learning, Pune</a:t>
            </a:r>
          </a:p>
          <a:p>
            <a:endParaRPr lang="en-US" sz="1600" b="1" dirty="0">
              <a:solidFill>
                <a:schemeClr val="tx2"/>
              </a:solidFill>
            </a:endParaRPr>
          </a:p>
          <a:p>
            <a:r>
              <a:rPr lang="en-US" sz="1600" b="1" dirty="0">
                <a:solidFill>
                  <a:schemeClr val="tx2"/>
                </a:solidFill>
              </a:rPr>
              <a:t>Submitted By:</a:t>
            </a:r>
          </a:p>
          <a:p>
            <a:endParaRPr lang="en-US" sz="1600" b="1" dirty="0">
              <a:solidFill>
                <a:schemeClr val="tx2"/>
              </a:solidFill>
            </a:endParaRPr>
          </a:p>
          <a:p>
            <a:r>
              <a:rPr lang="en-US" sz="1600" b="1" dirty="0">
                <a:solidFill>
                  <a:schemeClr val="tx2"/>
                </a:solidFill>
              </a:rPr>
              <a:t>Name:</a:t>
            </a:r>
            <a:r>
              <a:rPr lang="en-US" sz="1600" dirty="0">
                <a:solidFill>
                  <a:schemeClr val="tx2"/>
                </a:solidFill>
              </a:rPr>
              <a:t> [Muskan Gupta]</a:t>
            </a:r>
          </a:p>
          <a:p>
            <a:br>
              <a:rPr lang="en-US" sz="1600" dirty="0">
                <a:solidFill>
                  <a:schemeClr val="tx2"/>
                </a:solidFill>
              </a:rPr>
            </a:br>
            <a:r>
              <a:rPr lang="en-US" sz="1600" b="1" dirty="0">
                <a:solidFill>
                  <a:schemeClr val="tx2"/>
                </a:solidFill>
              </a:rPr>
              <a:t>ERP ID:</a:t>
            </a:r>
            <a:r>
              <a:rPr lang="en-US" sz="1600" dirty="0">
                <a:solidFill>
                  <a:schemeClr val="tx2"/>
                </a:solidFill>
              </a:rPr>
              <a:t> [241111591]</a:t>
            </a:r>
          </a:p>
          <a:p>
            <a:br>
              <a:rPr lang="en-US" sz="1600" dirty="0">
                <a:solidFill>
                  <a:schemeClr val="tx2"/>
                </a:solidFill>
              </a:rPr>
            </a:br>
            <a:r>
              <a:rPr lang="en-US" sz="1600" b="1" dirty="0">
                <a:solidFill>
                  <a:schemeClr val="tx2"/>
                </a:solidFill>
              </a:rPr>
              <a:t>PRN No.:</a:t>
            </a:r>
            <a:r>
              <a:rPr lang="en-US" sz="1600" dirty="0">
                <a:solidFill>
                  <a:schemeClr val="tx2"/>
                </a:solidFill>
              </a:rPr>
              <a:t> [</a:t>
            </a:r>
            <a:r>
              <a:rPr lang="en-US" sz="1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2405020011962</a:t>
            </a:r>
            <a:r>
              <a:rPr lang="en-US" sz="1600" dirty="0">
                <a:solidFill>
                  <a:schemeClr val="tx2"/>
                </a:solidFill>
              </a:rPr>
              <a:t>]</a:t>
            </a:r>
          </a:p>
          <a:p>
            <a:endParaRPr lang="en-IN" sz="1600" dirty="0">
              <a:solidFill>
                <a:schemeClr val="tx2"/>
              </a:solidFill>
            </a:endParaRPr>
          </a:p>
          <a:p>
            <a:r>
              <a:rPr lang="en-US" sz="1600" b="1" dirty="0">
                <a:solidFill>
                  <a:schemeClr val="tx2"/>
                </a:solidFill>
              </a:rPr>
              <a:t>Under the Guidance of</a:t>
            </a:r>
          </a:p>
          <a:p>
            <a:endParaRPr lang="en-US" sz="1600" b="1" dirty="0">
              <a:solidFill>
                <a:schemeClr val="tx2"/>
              </a:solidFill>
            </a:endParaRPr>
          </a:p>
          <a:p>
            <a:r>
              <a:rPr lang="en-US" sz="1600" b="1" dirty="0">
                <a:solidFill>
                  <a:schemeClr val="tx2"/>
                </a:solidFill>
              </a:rPr>
              <a:t>[Vikas Kumar </a:t>
            </a:r>
            <a:r>
              <a:rPr lang="en-US" sz="1600" b="1" dirty="0" err="1">
                <a:solidFill>
                  <a:schemeClr val="tx2"/>
                </a:solidFill>
              </a:rPr>
              <a:t>Atray</a:t>
            </a:r>
            <a:r>
              <a:rPr lang="en-US" sz="1600" b="1" dirty="0">
                <a:solidFill>
                  <a:schemeClr val="tx2"/>
                </a:solidFill>
              </a:rPr>
              <a:t>]</a:t>
            </a:r>
          </a:p>
          <a:p>
            <a:br>
              <a:rPr lang="en-US" sz="1600" dirty="0">
                <a:solidFill>
                  <a:schemeClr val="tx2"/>
                </a:solidFill>
              </a:rPr>
            </a:br>
            <a:r>
              <a:rPr lang="en-US" sz="1600" b="1" dirty="0">
                <a:solidFill>
                  <a:schemeClr val="tx2"/>
                </a:solidFill>
              </a:rPr>
              <a:t>[MBA]</a:t>
            </a:r>
          </a:p>
          <a:p>
            <a:br>
              <a:rPr lang="en-US" sz="1600" dirty="0">
                <a:solidFill>
                  <a:schemeClr val="tx2"/>
                </a:solidFill>
              </a:rPr>
            </a:br>
            <a:r>
              <a:rPr lang="en-US" sz="1600" b="1" dirty="0">
                <a:solidFill>
                  <a:schemeClr val="tx2"/>
                </a:solidFill>
              </a:rPr>
              <a:t>Dr. D. Y. Patil Vidyapeeth, Centre for Online Learning, Pune</a:t>
            </a:r>
            <a:endParaRPr lang="en-US" sz="1600" dirty="0">
              <a:solidFill>
                <a:schemeClr val="tx2"/>
              </a:solidFill>
            </a:endParaRPr>
          </a:p>
          <a:p>
            <a:endParaRPr lang="en-IN" sz="1600" dirty="0">
              <a:solidFill>
                <a:schemeClr val="tx2"/>
              </a:solidFill>
            </a:endParaRPr>
          </a:p>
          <a:p>
            <a:endParaRPr lang="en-IN" sz="1600" dirty="0">
              <a:solidFill>
                <a:schemeClr val="tx2"/>
              </a:solidFill>
            </a:endParaRPr>
          </a:p>
          <a:p>
            <a:r>
              <a:rPr lang="en-IN" sz="1600" b="1" dirty="0">
                <a:solidFill>
                  <a:schemeClr val="tx2"/>
                </a:solidFill>
              </a:rPr>
              <a:t>2024-2026</a:t>
            </a:r>
            <a:endParaRPr lang="en-IN" sz="1600" dirty="0">
              <a:solidFill>
                <a:schemeClr val="tx2"/>
              </a:solidFill>
            </a:endParaRPr>
          </a:p>
          <a:p>
            <a:pPr algn="l"/>
            <a:endParaRPr lang="en-IN" b="1" dirty="0">
              <a:solidFill>
                <a:schemeClr val="bg1"/>
              </a:solidFill>
              <a:latin typeface="Montserrat Medium" panose="000006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7086F-4963-401C-8024-DC384E478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2</a:t>
            </a:fld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FE2826-033A-4FB5-A6BF-66F5174614E8}"/>
              </a:ext>
            </a:extLst>
          </p:cNvPr>
          <p:cNvSpPr txBox="1"/>
          <p:nvPr/>
        </p:nvSpPr>
        <p:spPr>
          <a:xfrm>
            <a:off x="325408" y="1254188"/>
            <a:ext cx="8493183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IN"/>
            </a:defPPr>
            <a:lvl1pPr marL="2857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7429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Courier New" panose="02070309020205020404" pitchFamily="49" charset="0"/>
              <a:buChar char="o"/>
              <a:defRPr sz="1800">
                <a:latin typeface="+mn-lt"/>
              </a:defRPr>
            </a:lvl2pPr>
            <a:lvl3pPr marL="11430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16002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70000"/>
              <a:buFont typeface="Wingdings" panose="05000000000000000000" pitchFamily="2" charset="2"/>
              <a:buChar char="q"/>
              <a:defRPr sz="1800">
                <a:latin typeface="+mn-lt"/>
              </a:defRPr>
            </a:lvl4pPr>
            <a:lvl5pPr marL="20574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»"/>
              <a:defRPr sz="1800">
                <a:latin typeface="+mn-lt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dirty="0"/>
              <a:t>AI-BASED </a:t>
            </a:r>
            <a:r>
              <a:rPr lang="en-US" b="1" dirty="0">
                <a:solidFill>
                  <a:srgbClr val="0070C0"/>
                </a:solidFill>
              </a:rPr>
              <a:t>REAL-TIME</a:t>
            </a:r>
            <a:r>
              <a:rPr lang="en-US" b="1" dirty="0"/>
              <a:t> PAYMENT FRAUD </a:t>
            </a:r>
          </a:p>
          <a:p>
            <a:pPr marL="0" indent="0">
              <a:buNone/>
            </a:pPr>
            <a:r>
              <a:rPr lang="en-US" b="1" dirty="0"/>
              <a:t>DETECTION AND RISK SCORING SYSTEM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Rise of Digital Payments-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online banking,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mobile, UPI, cards has increased rapidly making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transaction faster , easier and more accessible.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Increasing Fraud Threats-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Along with growth in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digital payment, fraudulent activities are also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increasing.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Limitations of Traditional Method-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 based and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manual detection system are slow and inflexible.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 of AI and ML-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algorithm can learn from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historical data ,detect unusual patterns in real time.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Proposed System-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analyzed transaction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behavior, identifies potential fraud, improving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security and enhance customer trust.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6E453C-8F12-2B3C-3B56-48D364378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332656"/>
            <a:ext cx="6336704" cy="590697"/>
          </a:xfrm>
        </p:spPr>
        <p:txBody>
          <a:bodyPr/>
          <a:lstStyle/>
          <a:p>
            <a:pPr lvl="0" algn="ctr"/>
            <a:r>
              <a:rPr lang="en-IN" dirty="0"/>
              <a:t>Introduction: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305C95-34A8-BC42-83DD-6A0592BE0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088" y="1214644"/>
            <a:ext cx="3454504" cy="49506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7E8A31-1F98-9480-2192-0201E25E3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007" y="2276872"/>
            <a:ext cx="464959" cy="5183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7C6AE3-E9EF-C19E-0DC6-2D64013933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007" y="3288812"/>
            <a:ext cx="464959" cy="4725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C1C1ED-73D5-89B6-0CF9-793E23EF6B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007" y="4116012"/>
            <a:ext cx="464959" cy="4649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00DE60E-B33D-63D6-1A70-53D03A4CCA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007" y="4911806"/>
            <a:ext cx="457336" cy="4497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6CAD43F-1E07-B809-D04C-40061B02B5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007" y="5452253"/>
            <a:ext cx="480203" cy="480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95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7086F-4963-401C-8024-DC384E478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3</a:t>
            </a:fld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FE2826-033A-4FB5-A6BF-66F5174614E8}"/>
              </a:ext>
            </a:extLst>
          </p:cNvPr>
          <p:cNvSpPr txBox="1"/>
          <p:nvPr/>
        </p:nvSpPr>
        <p:spPr>
          <a:xfrm>
            <a:off x="457200" y="1124744"/>
            <a:ext cx="8291264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IN"/>
            </a:defPPr>
            <a:lvl1pPr marL="2857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7429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Courier New" panose="02070309020205020404" pitchFamily="49" charset="0"/>
              <a:buChar char="o"/>
              <a:defRPr sz="1800">
                <a:latin typeface="+mn-lt"/>
              </a:defRPr>
            </a:lvl2pPr>
            <a:lvl3pPr marL="11430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16002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70000"/>
              <a:buFont typeface="Wingdings" panose="05000000000000000000" pitchFamily="2" charset="2"/>
              <a:buChar char="q"/>
              <a:defRPr sz="1800">
                <a:latin typeface="+mn-lt"/>
              </a:defRPr>
            </a:lvl4pPr>
            <a:lvl5pPr marL="20574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»"/>
              <a:defRPr sz="1800">
                <a:latin typeface="+mn-lt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6E453C-8F12-2B3C-3B56-48D364378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2656"/>
            <a:ext cx="6995120" cy="590697"/>
          </a:xfrm>
        </p:spPr>
        <p:txBody>
          <a:bodyPr/>
          <a:lstStyle/>
          <a:p>
            <a:pPr lvl="0" algn="ctr"/>
            <a:r>
              <a:rPr lang="en-IN" dirty="0"/>
              <a:t>     Objective, Scope, and Purpose of Study: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C72CC2-A400-B437-93CE-8F46097F1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405038"/>
            <a:ext cx="432048" cy="5183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AE5E9E-C1D0-B50C-CA77-265812FAB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585" y="1223018"/>
            <a:ext cx="1959560" cy="3888431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059B17E-E23A-938D-4BE3-576E31FC78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205214"/>
              </p:ext>
            </p:extLst>
          </p:nvPr>
        </p:nvGraphicFramePr>
        <p:xfrm>
          <a:off x="542434" y="1484783"/>
          <a:ext cx="2964593" cy="36271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964593">
                  <a:extLst>
                    <a:ext uri="{9D8B030D-6E8A-4147-A177-3AD203B41FA5}">
                      <a16:colId xmlns:a16="http://schemas.microsoft.com/office/drawing/2014/main" val="3009628468"/>
                    </a:ext>
                  </a:extLst>
                </a:gridCol>
              </a:tblGrid>
              <a:tr h="338437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Objectives</a:t>
                      </a:r>
                    </a:p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develop an AI based system</a:t>
                      </a:r>
                    </a:p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that can detect fraudulent                   </a:t>
                      </a:r>
                    </a:p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digital payment transaction.</a:t>
                      </a:r>
                    </a:p>
                    <a:p>
                      <a:pPr algn="l"/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To improve fraud detection</a:t>
                      </a:r>
                    </a:p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performance using ML   </a:t>
                      </a:r>
                    </a:p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model.</a:t>
                      </a:r>
                    </a:p>
                    <a:p>
                      <a:pPr algn="l"/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To analyze transaction pattern</a:t>
                      </a:r>
                    </a:p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and identify suspicious activity.</a:t>
                      </a:r>
                    </a:p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</a:t>
                      </a:r>
                    </a:p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To generate real time alerts for</a:t>
                      </a:r>
                    </a:p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fraudulent transactions.</a:t>
                      </a:r>
                    </a:p>
                    <a:p>
                      <a:pPr algn="l"/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344291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18656505-158B-C46A-EE63-1181174BCE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198" y="3215576"/>
            <a:ext cx="411603" cy="4268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E8352F2-1DAB-DEAF-35EB-703A10BB12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198" y="3215576"/>
            <a:ext cx="411603" cy="4268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BA28783-3C95-EA6D-F396-AC84A4AE95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000" y="1941177"/>
            <a:ext cx="385821" cy="42684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87286D2-3A19-4F9E-7A01-56D2B69875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621" y="2741339"/>
            <a:ext cx="434470" cy="44971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DA73CCB-6A13-2766-3B99-C012564764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226" y="3550910"/>
            <a:ext cx="411603" cy="41160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AD85D78-BBCA-60BD-AFC7-5EBF11D7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999" y="4241807"/>
            <a:ext cx="449714" cy="411603"/>
          </a:xfrm>
          <a:prstGeom prst="rect">
            <a:avLst/>
          </a:prstGeom>
        </p:spPr>
      </p:pic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A914890C-D7F7-C850-A1F1-D03198C17B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7443049"/>
              </p:ext>
            </p:extLst>
          </p:nvPr>
        </p:nvGraphicFramePr>
        <p:xfrm>
          <a:off x="6012160" y="1396999"/>
          <a:ext cx="2589406" cy="37490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589406">
                  <a:extLst>
                    <a:ext uri="{9D8B030D-6E8A-4147-A177-3AD203B41FA5}">
                      <a16:colId xmlns:a16="http://schemas.microsoft.com/office/drawing/2014/main" val="4079906679"/>
                    </a:ext>
                  </a:extLst>
                </a:gridCol>
              </a:tblGrid>
              <a:tr h="37144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Scope of study</a:t>
                      </a: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Applicable to online    </a:t>
                      </a: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banking, cards, mobile</a:t>
                      </a: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and e-commerce payment.</a:t>
                      </a:r>
                    </a:p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Handles large volume of </a:t>
                      </a: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transaction data for </a:t>
                      </a: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analysis and monitoring.</a:t>
                      </a:r>
                    </a:p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Real time fraud detection</a:t>
                      </a: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and transaction</a:t>
                      </a: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monitoring capabilities.</a:t>
                      </a:r>
                    </a:p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Enhances security of</a:t>
                      </a: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digital payment   </a:t>
                      </a: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platform.</a:t>
                      </a: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6572886"/>
                  </a:ext>
                </a:extLst>
              </a:tr>
            </a:tbl>
          </a:graphicData>
        </a:graphic>
      </p:graphicFrame>
      <p:pic>
        <p:nvPicPr>
          <p:cNvPr id="26" name="Picture 25">
            <a:extLst>
              <a:ext uri="{FF2B5EF4-FFF2-40B4-BE49-F238E27FC236}">
                <a16:creationId xmlns:a16="http://schemas.microsoft.com/office/drawing/2014/main" id="{A5F04BBE-9400-AE66-61EE-762FD385992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3901" y="1720130"/>
            <a:ext cx="411603" cy="43447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91D044E-C904-A0F8-30F4-C2C9ADBA12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3410" y="2527915"/>
            <a:ext cx="411603" cy="42684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463587B-BC18-FFB8-E550-756C2104E20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83410" y="3350655"/>
            <a:ext cx="419225" cy="41922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A754A78-CC8C-1625-21DE-648BB12271D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8654" y="4165773"/>
            <a:ext cx="403981" cy="403981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7CCC432-B9B2-308B-995C-58EBD64BF0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512390"/>
              </p:ext>
            </p:extLst>
          </p:nvPr>
        </p:nvGraphicFramePr>
        <p:xfrm>
          <a:off x="567000" y="5362416"/>
          <a:ext cx="8119800" cy="116292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119800">
                  <a:extLst>
                    <a:ext uri="{9D8B030D-6E8A-4147-A177-3AD203B41FA5}">
                      <a16:colId xmlns:a16="http://schemas.microsoft.com/office/drawing/2014/main" val="1307456975"/>
                    </a:ext>
                  </a:extLst>
                </a:gridCol>
              </a:tblGrid>
              <a:tr h="116292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Purpose of study                      </a:t>
                      </a:r>
                    </a:p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To reduce digital               To improve security                 To build trust                        To minimize </a:t>
                      </a:r>
                    </a:p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payment fraud.                 and reliability of                        in digital transaction.           Losses for user</a:t>
                      </a:r>
                    </a:p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                      online payment system.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184980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92C2E7D2-2002-0366-CADB-E34B641D8F5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4355" y="5690955"/>
            <a:ext cx="396358" cy="4573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0C5367F-4D8F-3716-3F4C-58E09EAB2CE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83768" y="5690955"/>
            <a:ext cx="442092" cy="42684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75B6678-C413-88E7-AD3E-67B5029DEA1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48933" y="5731421"/>
            <a:ext cx="472581" cy="34300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6DA2F2F-7FB9-AEE3-75BD-BA996BE2245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7149" y="5706757"/>
            <a:ext cx="449714" cy="44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700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7086F-4963-401C-8024-DC384E478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4</a:t>
            </a:fld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FE2826-033A-4FB5-A6BF-66F5174614E8}"/>
              </a:ext>
            </a:extLst>
          </p:cNvPr>
          <p:cNvSpPr txBox="1"/>
          <p:nvPr/>
        </p:nvSpPr>
        <p:spPr>
          <a:xfrm>
            <a:off x="467544" y="1293062"/>
            <a:ext cx="8219256" cy="494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IN"/>
            </a:defPPr>
            <a:lvl1pPr marL="2857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7429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Courier New" panose="02070309020205020404" pitchFamily="49" charset="0"/>
              <a:buChar char="o"/>
              <a:defRPr sz="1800">
                <a:latin typeface="+mn-lt"/>
              </a:defRPr>
            </a:lvl2pPr>
            <a:lvl3pPr marL="11430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16002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70000"/>
              <a:buFont typeface="Wingdings" panose="05000000000000000000" pitchFamily="2" charset="2"/>
              <a:buChar char="q"/>
              <a:defRPr sz="1800">
                <a:latin typeface="+mn-lt"/>
              </a:defRPr>
            </a:lvl4pPr>
            <a:lvl5pPr marL="20574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»"/>
              <a:defRPr sz="1800">
                <a:latin typeface="+mn-lt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    </a:t>
            </a: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-Traditional fraud detection system rely on rule based approaches and manual work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Approaches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-Recent research shows that ML algorithm can analyze large volume 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of transaction data and learn patterns automatically. These models provide higher accuracy and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adaptability for fraud detection process.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from Previous Studies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-Studies have shown that algorithms like Random Forest,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Decision tree and Logistic Regression perform better in detecting fraudulent transaction.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Time Fraud Detection Process-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Researcher emphasizes the importance of real time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monitoring systems that can detect suspicious activities instantly.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various ML models, have been proposed there is still need for accurate,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real time and scalable system that can adapt to evolving fraud patterns in digital payment platform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The Literature Survey indicates that ML techniques significantly improve fraud detection accuracy.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However ,continuous improvement in data handling, model training is essential to build 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more secure and reliable digital payment system.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marL="0" indent="0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6E453C-8F12-2B3C-3B56-48D364378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332656"/>
            <a:ext cx="6984776" cy="960406"/>
          </a:xfrm>
        </p:spPr>
        <p:txBody>
          <a:bodyPr/>
          <a:lstStyle/>
          <a:p>
            <a:pPr lvl="0" algn="ctr"/>
            <a:r>
              <a:rPr lang="en-IN" dirty="0"/>
              <a:t>         Literature Review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4CA854-49B4-7A3B-4F55-E1402FC14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3" y="332656"/>
            <a:ext cx="2304256" cy="9604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61D749-C07F-1A27-FC9A-9F8FAC483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197" y="1340768"/>
            <a:ext cx="617404" cy="6480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D88EE67-1DFD-A54F-1AC0-AD65E70AB5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197" y="1957809"/>
            <a:ext cx="617404" cy="6480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60F7EBC-9D91-B63E-57FA-20CFB143A9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985" y="2953798"/>
            <a:ext cx="594537" cy="6021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5F1EF98-E3D4-67E6-E515-8BFCFD40C5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070" y="3719104"/>
            <a:ext cx="609782" cy="60216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BF464CD-3EAC-C27C-75BF-ACE26B82F0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774" y="4414881"/>
            <a:ext cx="594537" cy="6021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65D4DD-C3D9-8557-B9FD-E7BB5137FA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553" y="5216694"/>
            <a:ext cx="432048" cy="44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650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7086F-4963-401C-8024-DC384E478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5</a:t>
            </a:fld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FE2826-033A-4FB5-A6BF-66F5174614E8}"/>
              </a:ext>
            </a:extLst>
          </p:cNvPr>
          <p:cNvSpPr txBox="1"/>
          <p:nvPr/>
        </p:nvSpPr>
        <p:spPr>
          <a:xfrm>
            <a:off x="395536" y="1124744"/>
            <a:ext cx="8291264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IN"/>
            </a:defPPr>
            <a:lvl1pPr marL="2857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7429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Courier New" panose="02070309020205020404" pitchFamily="49" charset="0"/>
              <a:buChar char="o"/>
              <a:defRPr sz="1800">
                <a:latin typeface="+mn-lt"/>
              </a:defRPr>
            </a:lvl2pPr>
            <a:lvl3pPr marL="11430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16002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70000"/>
              <a:buFont typeface="Wingdings" panose="05000000000000000000" pitchFamily="2" charset="2"/>
              <a:buChar char="q"/>
              <a:defRPr sz="1800">
                <a:latin typeface="+mn-lt"/>
              </a:defRPr>
            </a:lvl4pPr>
            <a:lvl5pPr marL="20574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»"/>
              <a:defRPr sz="1800">
                <a:latin typeface="+mn-lt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ML techniques to detect digital payment 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transactions. 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collects transaction data, preprocess it, trains ML models, and predicts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whether a transaction is fraudulent or legitimate. If fraud is detected the 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generate real time alert.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6E453C-8F12-2B3C-3B56-48D364378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332656"/>
            <a:ext cx="6336704" cy="590697"/>
          </a:xfrm>
        </p:spPr>
        <p:txBody>
          <a:bodyPr/>
          <a:lstStyle/>
          <a:p>
            <a:pPr lvl="0" algn="ctr"/>
            <a:r>
              <a:rPr lang="en-IN" dirty="0"/>
              <a:t>SYSTEM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74EFBE-6AA5-96F8-72A2-8BD6E5D47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34" y="364347"/>
            <a:ext cx="609782" cy="64027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B2FA231-1411-770D-5100-6CABB9C336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722661"/>
              </p:ext>
            </p:extLst>
          </p:nvPr>
        </p:nvGraphicFramePr>
        <p:xfrm>
          <a:off x="457198" y="1397000"/>
          <a:ext cx="5604380" cy="3708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604380">
                  <a:extLst>
                    <a:ext uri="{9D8B030D-6E8A-4147-A177-3AD203B41FA5}">
                      <a16:colId xmlns:a16="http://schemas.microsoft.com/office/drawing/2014/main" val="27864322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System Overview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657529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E3D1A60-E22A-9060-D798-DD8BEE0EB4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5641268"/>
              </p:ext>
            </p:extLst>
          </p:nvPr>
        </p:nvGraphicFramePr>
        <p:xfrm>
          <a:off x="457198" y="3284984"/>
          <a:ext cx="5482954" cy="1156219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482954">
                  <a:extLst>
                    <a:ext uri="{9D8B030D-6E8A-4147-A177-3AD203B41FA5}">
                      <a16:colId xmlns:a16="http://schemas.microsoft.com/office/drawing/2014/main" val="2858444042"/>
                    </a:ext>
                  </a:extLst>
                </a:gridCol>
              </a:tblGrid>
              <a:tr h="115621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System Architecture</a:t>
                      </a:r>
                    </a:p>
                    <a:p>
                      <a:pPr algn="l"/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439329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C8B1B53-4187-AA4A-250D-901641501C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091621"/>
              </p:ext>
            </p:extLst>
          </p:nvPr>
        </p:nvGraphicFramePr>
        <p:xfrm>
          <a:off x="6084169" y="1397000"/>
          <a:ext cx="2602632" cy="41148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602632">
                  <a:extLst>
                    <a:ext uri="{9D8B030D-6E8A-4147-A177-3AD203B41FA5}">
                      <a16:colId xmlns:a16="http://schemas.microsoft.com/office/drawing/2014/main" val="522781976"/>
                    </a:ext>
                  </a:extLst>
                </a:gridCol>
              </a:tblGrid>
              <a:tr h="404822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Technologies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Used</a:t>
                      </a:r>
                    </a:p>
                    <a:p>
                      <a:pPr algn="l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     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Python-Programming</a:t>
                      </a:r>
                    </a:p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Language</a:t>
                      </a:r>
                    </a:p>
                    <a:p>
                      <a:pPr algn="l"/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Flask –Web framework</a:t>
                      </a:r>
                    </a:p>
                    <a:p>
                      <a:pPr algn="l"/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Pandas-Data</a:t>
                      </a:r>
                    </a:p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Manipulation</a:t>
                      </a:r>
                    </a:p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Numpy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-Numerical</a:t>
                      </a:r>
                    </a:p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Operation</a:t>
                      </a:r>
                    </a:p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</a:t>
                      </a:r>
                    </a:p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Scikit Learn-Machine</a:t>
                      </a:r>
                    </a:p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Learning</a:t>
                      </a:r>
                    </a:p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</a:t>
                      </a:r>
                    </a:p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Matplotlib-Data</a:t>
                      </a:r>
                    </a:p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Visualization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6261985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D0BC0DBF-3A62-3F22-59FE-35B302695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1258" y="2090853"/>
            <a:ext cx="365869" cy="3353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62FF4A1-31BA-637E-3F3C-9620B62222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004" y="2661701"/>
            <a:ext cx="350625" cy="32775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601BB41-EA6D-28CA-51B0-9F3BA45B8C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061578" y="3164776"/>
            <a:ext cx="545228" cy="32775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AC10B94-314F-FA06-4C9F-F2E1CF6829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3790" y="3757108"/>
            <a:ext cx="442092" cy="3506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3F2DE0E-4B11-C8CB-C4EE-DB714A2D1D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5016" y="4441203"/>
            <a:ext cx="472581" cy="31251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04A8C18-BBAB-A1B2-32A5-8EDA7D203B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1218" y="5087186"/>
            <a:ext cx="411603" cy="37349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ADEB4D7-7296-6C9B-38A0-778DF467BF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3335" y="3681028"/>
            <a:ext cx="5335592" cy="754605"/>
          </a:xfrm>
          <a:prstGeom prst="rect">
            <a:avLst/>
          </a:prstGeom>
        </p:spPr>
      </p:pic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653C7D01-A004-248E-1B12-874FEBB8FC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689507"/>
              </p:ext>
            </p:extLst>
          </p:nvPr>
        </p:nvGraphicFramePr>
        <p:xfrm>
          <a:off x="438057" y="4522468"/>
          <a:ext cx="5623521" cy="101009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623521">
                  <a:extLst>
                    <a:ext uri="{9D8B030D-6E8A-4147-A177-3AD203B41FA5}">
                      <a16:colId xmlns:a16="http://schemas.microsoft.com/office/drawing/2014/main" val="841440221"/>
                    </a:ext>
                  </a:extLst>
                </a:gridCol>
              </a:tblGrid>
              <a:tr h="101009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Workflow Diagram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70304"/>
                  </a:ext>
                </a:extLst>
              </a:tr>
            </a:tbl>
          </a:graphicData>
        </a:graphic>
      </p:graphicFrame>
      <p:pic>
        <p:nvPicPr>
          <p:cNvPr id="27" name="Picture 26">
            <a:extLst>
              <a:ext uri="{FF2B5EF4-FFF2-40B4-BE49-F238E27FC236}">
                <a16:creationId xmlns:a16="http://schemas.microsoft.com/office/drawing/2014/main" id="{539B2C70-633B-49C8-C327-3AC9BDDAF68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3336" y="4826373"/>
            <a:ext cx="5498242" cy="678382"/>
          </a:xfrm>
          <a:prstGeom prst="rect">
            <a:avLst/>
          </a:prstGeom>
        </p:spPr>
      </p:pic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C7D6972B-3F1E-30C0-8D56-C7658D1222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40519"/>
              </p:ext>
            </p:extLst>
          </p:nvPr>
        </p:nvGraphicFramePr>
        <p:xfrm>
          <a:off x="457198" y="5608726"/>
          <a:ext cx="8075241" cy="7924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075241">
                  <a:extLst>
                    <a:ext uri="{9D8B030D-6E8A-4147-A177-3AD203B41FA5}">
                      <a16:colId xmlns:a16="http://schemas.microsoft.com/office/drawing/2014/main" val="2666015313"/>
                    </a:ext>
                  </a:extLst>
                </a:gridCol>
              </a:tblGrid>
              <a:tr h="628585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develop an efficient and real time fraud detection system that ensure secure digital payment and improves trust in digital payment.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9112119"/>
                  </a:ext>
                </a:extLst>
              </a:tr>
            </a:tbl>
          </a:graphicData>
        </a:graphic>
      </p:graphicFrame>
      <p:pic>
        <p:nvPicPr>
          <p:cNvPr id="30" name="Picture 29">
            <a:extLst>
              <a:ext uri="{FF2B5EF4-FFF2-40B4-BE49-F238E27FC236}">
                <a16:creationId xmlns:a16="http://schemas.microsoft.com/office/drawing/2014/main" id="{028D4B48-904C-BEEB-5CE3-110525F1AE3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96298" y="5587216"/>
            <a:ext cx="1471099" cy="371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039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7086F-4963-401C-8024-DC384E478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6</a:t>
            </a:fld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FE2826-033A-4FB5-A6BF-66F5174614E8}"/>
              </a:ext>
            </a:extLst>
          </p:cNvPr>
          <p:cNvSpPr txBox="1"/>
          <p:nvPr/>
        </p:nvSpPr>
        <p:spPr>
          <a:xfrm>
            <a:off x="395536" y="1052736"/>
            <a:ext cx="8123217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IN"/>
            </a:defPPr>
            <a:lvl1pPr marL="2857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7429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Courier New" panose="02070309020205020404" pitchFamily="49" charset="0"/>
              <a:buChar char="o"/>
              <a:defRPr sz="1800">
                <a:latin typeface="+mn-lt"/>
              </a:defRPr>
            </a:lvl2pPr>
            <a:lvl3pPr marL="11430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16002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70000"/>
              <a:buFont typeface="Wingdings" panose="05000000000000000000" pitchFamily="2" charset="2"/>
              <a:buChar char="q"/>
              <a:defRPr sz="1800">
                <a:latin typeface="+mn-lt"/>
              </a:defRPr>
            </a:lvl4pPr>
            <a:lvl5pPr marL="20574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»"/>
              <a:defRPr sz="1800">
                <a:latin typeface="+mn-lt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6E453C-8F12-2B3C-3B56-48D364378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332656"/>
            <a:ext cx="6336704" cy="590697"/>
          </a:xfrm>
        </p:spPr>
        <p:txBody>
          <a:bodyPr/>
          <a:lstStyle/>
          <a:p>
            <a:pPr lvl="0" algn="ctr"/>
            <a:r>
              <a:rPr lang="en-IN" dirty="0"/>
              <a:t>Data Collection and Analysis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10F8AA1-C21E-1201-1AE9-BBBA99B1BA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5655356"/>
              </p:ext>
            </p:extLst>
          </p:nvPr>
        </p:nvGraphicFramePr>
        <p:xfrm>
          <a:off x="345766" y="1397000"/>
          <a:ext cx="2354026" cy="318412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354026">
                  <a:extLst>
                    <a:ext uri="{9D8B030D-6E8A-4147-A177-3AD203B41FA5}">
                      <a16:colId xmlns:a16="http://schemas.microsoft.com/office/drawing/2014/main" val="3986031861"/>
                    </a:ext>
                  </a:extLst>
                </a:gridCol>
              </a:tblGrid>
              <a:tr h="318412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         Data</a:t>
                      </a:r>
                    </a:p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         Collection</a:t>
                      </a:r>
                    </a:p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dataset used in the study contains digital payment transaction collected from open-source repositories.</a:t>
                      </a:r>
                    </a:p>
                    <a:p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>
                        <a:solidFill>
                          <a:srgbClr val="0070C0"/>
                        </a:solidFill>
                      </a:endParaRPr>
                    </a:p>
                    <a:p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10241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014D38F-B194-19FA-32B0-11F6A0525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421210"/>
            <a:ext cx="553826" cy="591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BB002D-8A8C-35E9-E25E-CC3629C17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3077394"/>
            <a:ext cx="2299280" cy="1916244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EEE80DD-7195-A334-ABF5-C519F31AD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537539"/>
              </p:ext>
            </p:extLst>
          </p:nvPr>
        </p:nvGraphicFramePr>
        <p:xfrm>
          <a:off x="2843808" y="1396999"/>
          <a:ext cx="2592288" cy="35966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592288">
                  <a:extLst>
                    <a:ext uri="{9D8B030D-6E8A-4147-A177-3AD203B41FA5}">
                      <a16:colId xmlns:a16="http://schemas.microsoft.com/office/drawing/2014/main" val="508150142"/>
                    </a:ext>
                  </a:extLst>
                </a:gridCol>
              </a:tblGrid>
              <a:tr h="318412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Data</a:t>
                      </a:r>
                    </a:p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Preprocessing</a:t>
                      </a:r>
                    </a:p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    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Cleaning-Removed</a:t>
                      </a:r>
                    </a:p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Duplicate Record and handle</a:t>
                      </a:r>
                    </a:p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Error.</a:t>
                      </a:r>
                    </a:p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Handling Missing Values-</a:t>
                      </a:r>
                    </a:p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Imputed missing values by </a:t>
                      </a:r>
                    </a:p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mean, median and mode.</a:t>
                      </a:r>
                    </a:p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Scaling-Applied</a:t>
                      </a:r>
                    </a:p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Standard scaler for</a:t>
                      </a:r>
                    </a:p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normalization. </a:t>
                      </a:r>
                    </a:p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Encoding Categorical Data-</a:t>
                      </a:r>
                    </a:p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Converted categorical into </a:t>
                      </a:r>
                    </a:p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numerical values.</a:t>
                      </a:r>
                    </a:p>
                    <a:p>
                      <a:endParaRPr 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65660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3D365C9-D8BA-EC7A-88FC-D8B578AE95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41093"/>
              </p:ext>
            </p:extLst>
          </p:nvPr>
        </p:nvGraphicFramePr>
        <p:xfrm>
          <a:off x="5580111" y="1396999"/>
          <a:ext cx="3082657" cy="3596639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082657">
                  <a:extLst>
                    <a:ext uri="{9D8B030D-6E8A-4147-A177-3AD203B41FA5}">
                      <a16:colId xmlns:a16="http://schemas.microsoft.com/office/drawing/2014/main" val="1154241067"/>
                    </a:ext>
                  </a:extLst>
                </a:gridCol>
              </a:tblGrid>
              <a:tr h="359663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Exploratory Data Analysis</a:t>
                      </a:r>
                    </a:p>
                    <a:p>
                      <a:endParaRPr lang="en-US" dirty="0">
                        <a:solidFill>
                          <a:srgbClr val="0070C0"/>
                        </a:solidFill>
                      </a:endParaRPr>
                    </a:p>
                    <a:p>
                      <a:endParaRPr lang="en-US" dirty="0">
                        <a:solidFill>
                          <a:srgbClr val="0070C0"/>
                        </a:solidFill>
                      </a:endParaRPr>
                    </a:p>
                    <a:p>
                      <a:endParaRPr lang="en-US" dirty="0">
                        <a:solidFill>
                          <a:srgbClr val="0070C0"/>
                        </a:solidFill>
                      </a:endParaRPr>
                    </a:p>
                    <a:p>
                      <a:endParaRPr lang="en-US" dirty="0">
                        <a:solidFill>
                          <a:srgbClr val="0070C0"/>
                        </a:solidFill>
                      </a:endParaRPr>
                    </a:p>
                    <a:p>
                      <a:endParaRPr lang="en-US" dirty="0">
                        <a:solidFill>
                          <a:srgbClr val="0070C0"/>
                        </a:solidFill>
                      </a:endParaRPr>
                    </a:p>
                    <a:p>
                      <a:endParaRPr lang="en-US" dirty="0">
                        <a:solidFill>
                          <a:srgbClr val="0070C0"/>
                        </a:solidFill>
                      </a:endParaRPr>
                    </a:p>
                    <a:p>
                      <a:endParaRPr lang="en-US" dirty="0">
                        <a:solidFill>
                          <a:srgbClr val="0070C0"/>
                        </a:solidFill>
                      </a:endParaRPr>
                    </a:p>
                    <a:p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768796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6A708326-6F18-411F-4713-6330836F34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808" y="2204864"/>
            <a:ext cx="358247" cy="3506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DC2F0DD-0057-CCC3-EA4A-AFCBEA9C6C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9542" y="2756880"/>
            <a:ext cx="312513" cy="3353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759CFAE-3F3F-DCDF-460F-2CC97F620C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3808" y="3455769"/>
            <a:ext cx="358247" cy="37349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3F4B595-BD10-3C02-62FA-779B76711E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2863" y="4039403"/>
            <a:ext cx="320135" cy="3353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6E80F3D-27BF-7C87-88F7-D5BD9BC9E3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8365" y="2029060"/>
            <a:ext cx="2994403" cy="18002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4CAD026-4011-0DD8-07F8-408417CDB9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8365" y="4039403"/>
            <a:ext cx="2994403" cy="961523"/>
          </a:xfrm>
          <a:prstGeom prst="rect">
            <a:avLst/>
          </a:prstGeom>
        </p:spPr>
      </p:pic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F743C0CD-F755-1C0B-E65B-7BC0A3EB0A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350986"/>
              </p:ext>
            </p:extLst>
          </p:nvPr>
        </p:nvGraphicFramePr>
        <p:xfrm>
          <a:off x="395536" y="5026854"/>
          <a:ext cx="8291263" cy="1498489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291263">
                  <a:extLst>
                    <a:ext uri="{9D8B030D-6E8A-4147-A177-3AD203B41FA5}">
                      <a16:colId xmlns:a16="http://schemas.microsoft.com/office/drawing/2014/main" val="3804900849"/>
                    </a:ext>
                  </a:extLst>
                </a:gridCol>
              </a:tblGrid>
              <a:tr h="149848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Feature Analysis </a:t>
                      </a:r>
                      <a:endParaRPr lang="en-US" sz="14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b="0" dirty="0"/>
                        <a:t>    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Identified high features that have high impact on fraud detection.</a:t>
                      </a:r>
                    </a:p>
                    <a:p>
                      <a:r>
                        <a:rPr lang="en-US" b="0" dirty="0"/>
                        <a:t>     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Correlation analysis was performed to remove highly correlated</a:t>
                      </a:r>
                    </a:p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features.</a:t>
                      </a:r>
                    </a:p>
                    <a:p>
                      <a:r>
                        <a:rPr lang="en-US" b="0" dirty="0"/>
                        <a:t>     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 feature improves model accuracy and overfitting.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520375"/>
                  </a:ext>
                </a:extLst>
              </a:tr>
            </a:tbl>
          </a:graphicData>
        </a:graphic>
      </p:graphicFrame>
      <p:pic>
        <p:nvPicPr>
          <p:cNvPr id="23" name="Picture 22">
            <a:extLst>
              <a:ext uri="{FF2B5EF4-FFF2-40B4-BE49-F238E27FC236}">
                <a16:creationId xmlns:a16="http://schemas.microsoft.com/office/drawing/2014/main" id="{948BC1D1-5585-6549-CDB3-A3E3829D6CE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92080" y="5056489"/>
            <a:ext cx="3394720" cy="131895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28AE5D4-600D-29EF-3218-189D3B41B5F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2898" y="5341905"/>
            <a:ext cx="335380" cy="35062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2AD59B6-79BF-3658-CE4D-BCB632E8E30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4486" y="5660909"/>
            <a:ext cx="381114" cy="4192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1AF6F08-B3B0-2754-8B77-BEE9CA5B512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flipV="1">
            <a:off x="346245" y="6088818"/>
            <a:ext cx="396358" cy="3454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F39DAA-3D3A-8875-CD19-43BA742A1C8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4856" y="337898"/>
            <a:ext cx="670760" cy="655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219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7086F-4963-401C-8024-DC384E478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7</a:t>
            </a:fld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FE2826-033A-4FB5-A6BF-66F5174614E8}"/>
              </a:ext>
            </a:extLst>
          </p:cNvPr>
          <p:cNvSpPr txBox="1"/>
          <p:nvPr/>
        </p:nvSpPr>
        <p:spPr>
          <a:xfrm>
            <a:off x="457200" y="1124744"/>
            <a:ext cx="8229600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IN"/>
            </a:defPPr>
            <a:lvl1pPr marL="2857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7429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Courier New" panose="02070309020205020404" pitchFamily="49" charset="0"/>
              <a:buChar char="o"/>
              <a:defRPr sz="1800">
                <a:latin typeface="+mn-lt"/>
              </a:defRPr>
            </a:lvl2pPr>
            <a:lvl3pPr marL="11430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16002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70000"/>
              <a:buFont typeface="Wingdings" panose="05000000000000000000" pitchFamily="2" charset="2"/>
              <a:buChar char="q"/>
              <a:defRPr sz="1800">
                <a:latin typeface="+mn-lt"/>
              </a:defRPr>
            </a:lvl4pPr>
            <a:lvl5pPr marL="20574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»"/>
              <a:defRPr sz="1800">
                <a:latin typeface="+mn-lt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6E453C-8F12-2B3C-3B56-48D364378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332656"/>
            <a:ext cx="6336704" cy="590697"/>
          </a:xfrm>
        </p:spPr>
        <p:txBody>
          <a:bodyPr/>
          <a:lstStyle/>
          <a:p>
            <a:pPr lvl="0" algn="ctr"/>
            <a:r>
              <a:rPr lang="en-IN" dirty="0"/>
              <a:t>Findings and Interpretation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4DE5CAA-D0FA-2B63-7C3A-7763F6A402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121716"/>
              </p:ext>
            </p:extLst>
          </p:nvPr>
        </p:nvGraphicFramePr>
        <p:xfrm>
          <a:off x="755576" y="1340768"/>
          <a:ext cx="2304256" cy="23774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304256">
                  <a:extLst>
                    <a:ext uri="{9D8B030D-6E8A-4147-A177-3AD203B41FA5}">
                      <a16:colId xmlns:a16="http://schemas.microsoft.com/office/drawing/2014/main" val="3949285758"/>
                    </a:ext>
                  </a:extLst>
                </a:gridCol>
              </a:tblGrid>
              <a:tr h="2304256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Overview</a:t>
                      </a:r>
                    </a:p>
                    <a:p>
                      <a:endParaRPr lang="en-US" sz="16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6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6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6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dataset is highly imbalanced. Fraudulent transaction are very less compared to legitimate Transaction.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1304267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543E2383-66BA-ACC4-F06B-73CFE2946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681918"/>
            <a:ext cx="2088232" cy="983273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FA4F17F-ED31-EC18-7D14-064D6FB4D6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285848"/>
              </p:ext>
            </p:extLst>
          </p:nvPr>
        </p:nvGraphicFramePr>
        <p:xfrm>
          <a:off x="3275856" y="1340768"/>
          <a:ext cx="5472608" cy="23774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472608">
                  <a:extLst>
                    <a:ext uri="{9D8B030D-6E8A-4147-A177-3AD203B41FA5}">
                      <a16:colId xmlns:a16="http://schemas.microsoft.com/office/drawing/2014/main" val="2541814988"/>
                    </a:ext>
                  </a:extLst>
                </a:gridCol>
              </a:tblGrid>
              <a:tr h="23774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Performance Summary</a:t>
                      </a:r>
                    </a:p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352368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A58E4F18-6A81-5A93-4C49-0EF53F848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904" y="1681918"/>
            <a:ext cx="4824535" cy="174708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6D2BFA2-E447-55B5-A729-2A88FB1B45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841509"/>
              </p:ext>
            </p:extLst>
          </p:nvPr>
        </p:nvGraphicFramePr>
        <p:xfrm>
          <a:off x="659904" y="3821970"/>
          <a:ext cx="3984104" cy="270337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984104">
                  <a:extLst>
                    <a:ext uri="{9D8B030D-6E8A-4147-A177-3AD203B41FA5}">
                      <a16:colId xmlns:a16="http://schemas.microsoft.com/office/drawing/2014/main" val="538968921"/>
                    </a:ext>
                  </a:extLst>
                </a:gridCol>
              </a:tblGrid>
              <a:tr h="270337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Key Findings</a:t>
                      </a:r>
                    </a:p>
                    <a:p>
                      <a:pPr algn="l"/>
                      <a:r>
                        <a:rPr lang="en-US" dirty="0"/>
                        <a:t>    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Accuracy-The Random Forest Model</a:t>
                      </a:r>
                    </a:p>
                    <a:p>
                      <a:pPr algn="l"/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indicated highest accuracy.</a:t>
                      </a:r>
                    </a:p>
                    <a:p>
                      <a:pPr algn="l"/>
                      <a:r>
                        <a:rPr lang="en-US" b="0" dirty="0"/>
                        <a:t>     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Low False Positive-Precision shows that system </a:t>
                      </a:r>
                    </a:p>
                    <a:p>
                      <a:pPr algn="l"/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has low rate of false alerts.</a:t>
                      </a:r>
                    </a:p>
                    <a:p>
                      <a:pPr algn="l"/>
                      <a:r>
                        <a:rPr lang="en-US" b="0" dirty="0"/>
                        <a:t>      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Imbalanced Data Handling-SMOTE and other</a:t>
                      </a:r>
                    </a:p>
                    <a:p>
                      <a:pPr algn="l"/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processing techniques helped the model to learn</a:t>
                      </a:r>
                    </a:p>
                    <a:p>
                      <a:pPr algn="l"/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pattern effectively from imbalanced data.</a:t>
                      </a:r>
                    </a:p>
                    <a:p>
                      <a:pPr algn="l"/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Real time Potential-The system is capable of</a:t>
                      </a:r>
                    </a:p>
                    <a:p>
                      <a:pPr algn="l"/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analyzing transaction in real time.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007161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32DC9D52-ECB4-E4B5-8039-50507DCE35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904" y="4221088"/>
            <a:ext cx="396358" cy="3506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DDF19F-1E17-D06C-CD79-3A2C02DA27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904" y="4732372"/>
            <a:ext cx="335380" cy="2972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955B97D-8EAF-72AB-B0BD-C5B7F1B928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226" y="5176082"/>
            <a:ext cx="449714" cy="35824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A993142-3E1F-5F64-0276-3392B2FD53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918" y="5843958"/>
            <a:ext cx="388736" cy="358247"/>
          </a:xfrm>
          <a:prstGeom prst="rect">
            <a:avLst/>
          </a:prstGeom>
        </p:spPr>
      </p:pic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6ACA053-EFB2-F4AE-DCAC-E25FF76B90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66051"/>
              </p:ext>
            </p:extLst>
          </p:nvPr>
        </p:nvGraphicFramePr>
        <p:xfrm>
          <a:off x="4716016" y="3821970"/>
          <a:ext cx="3970784" cy="27127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970784">
                  <a:extLst>
                    <a:ext uri="{9D8B030D-6E8A-4147-A177-3AD203B41FA5}">
                      <a16:colId xmlns:a16="http://schemas.microsoft.com/office/drawing/2014/main" val="2139598720"/>
                    </a:ext>
                  </a:extLst>
                </a:gridCol>
              </a:tblGrid>
              <a:tr h="26167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Interpretation</a:t>
                      </a:r>
                    </a:p>
                    <a:p>
                      <a:pPr algn="l"/>
                      <a:r>
                        <a:rPr lang="en-US" sz="14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model effectively learns pattern of normal </a:t>
                      </a:r>
                    </a:p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fraudulent transactions.</a:t>
                      </a:r>
                    </a:p>
                    <a:p>
                      <a:pPr algn="l"/>
                      <a:r>
                        <a:rPr lang="en-US" sz="14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</a:t>
                      </a:r>
                    </a:p>
                    <a:p>
                      <a:pPr algn="l"/>
                      <a:r>
                        <a:rPr lang="en-US" sz="14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value transaction and uncommon devices         </a:t>
                      </a:r>
                    </a:p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contribute to fraud.</a:t>
                      </a:r>
                    </a:p>
                    <a:p>
                      <a:pPr algn="l"/>
                      <a:endParaRPr lang="en-US" sz="14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sz="14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improves detection compare</a:t>
                      </a:r>
                    </a:p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to Rule based approach.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Real time alerts and monitoring improves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security.</a:t>
                      </a:r>
                    </a:p>
                    <a:p>
                      <a:pPr algn="l"/>
                      <a:endParaRPr 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750142"/>
                  </a:ext>
                </a:extLst>
              </a:tr>
            </a:tbl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E24BBD73-6B65-E546-6123-F7CADA4AA3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6016" y="4147336"/>
            <a:ext cx="388736" cy="38873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0DB959D-8525-245C-08DF-EE0023550F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7227" y="4801782"/>
            <a:ext cx="381114" cy="36586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FAD8FC0-C172-0F4C-00DD-A6A9025E13F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4360" y="5400132"/>
            <a:ext cx="426847" cy="35062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C57D111-66A9-03D5-398F-B94FAE4F946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37227" y="5843958"/>
            <a:ext cx="464959" cy="35062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029107B-D6CF-02F1-5249-708E4C17D8D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0961" y="319279"/>
            <a:ext cx="632649" cy="647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946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7086F-4963-401C-8024-DC384E478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8</a:t>
            </a:fld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FE2826-033A-4FB5-A6BF-66F5174614E8}"/>
              </a:ext>
            </a:extLst>
          </p:cNvPr>
          <p:cNvSpPr txBox="1"/>
          <p:nvPr/>
        </p:nvSpPr>
        <p:spPr>
          <a:xfrm>
            <a:off x="457200" y="1124744"/>
            <a:ext cx="8363272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IN"/>
            </a:defPPr>
            <a:lvl1pPr marL="2857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7429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Courier New" panose="02070309020205020404" pitchFamily="49" charset="0"/>
              <a:buChar char="o"/>
              <a:defRPr sz="1800">
                <a:latin typeface="+mn-lt"/>
              </a:defRPr>
            </a:lvl2pPr>
            <a:lvl3pPr marL="11430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16002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70000"/>
              <a:buFont typeface="Wingdings" panose="05000000000000000000" pitchFamily="2" charset="2"/>
              <a:buChar char="q"/>
              <a:defRPr sz="1800">
                <a:latin typeface="+mn-lt"/>
              </a:defRPr>
            </a:lvl4pPr>
            <a:lvl5pPr marL="20574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»"/>
              <a:defRPr sz="1800">
                <a:latin typeface="+mn-lt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pPr marL="0" indent="0">
              <a:buNone/>
            </a:pPr>
            <a:r>
              <a:rPr lang="en-US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6E453C-8F12-2B3C-3B56-48D364378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6" y="332656"/>
            <a:ext cx="6931824" cy="590697"/>
          </a:xfrm>
        </p:spPr>
        <p:txBody>
          <a:bodyPr/>
          <a:lstStyle/>
          <a:p>
            <a:pPr lvl="0" algn="ctr"/>
            <a:r>
              <a:rPr lang="en-IN" dirty="0"/>
              <a:t>Conclusions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102F86F-4E8F-B03B-FBC1-7010C48B5E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233891"/>
              </p:ext>
            </p:extLst>
          </p:nvPr>
        </p:nvGraphicFramePr>
        <p:xfrm>
          <a:off x="499558" y="1268760"/>
          <a:ext cx="3568386" cy="403244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568386">
                  <a:extLst>
                    <a:ext uri="{9D8B030D-6E8A-4147-A177-3AD203B41FA5}">
                      <a16:colId xmlns:a16="http://schemas.microsoft.com/office/drawing/2014/main" val="705017568"/>
                    </a:ext>
                  </a:extLst>
                </a:gridCol>
              </a:tblGrid>
              <a:tr h="403244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Summary of the study</a:t>
                      </a:r>
                    </a:p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sz="16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proposed system uses ML</a:t>
                      </a:r>
                    </a:p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techniques to detect fraudulent</a:t>
                      </a:r>
                    </a:p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digital payment transaction in real</a:t>
                      </a:r>
                    </a:p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time.</a:t>
                      </a:r>
                    </a:p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The model successfully detects</a:t>
                      </a:r>
                    </a:p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unusual patterns in transaction</a:t>
                      </a:r>
                    </a:p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such as high amount, rare location.</a:t>
                      </a:r>
                    </a:p>
                    <a:p>
                      <a:pPr algn="l"/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Techniques like handling missing</a:t>
                      </a:r>
                    </a:p>
                    <a:p>
                      <a:pPr algn="l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values, encoding, scaling and</a:t>
                      </a:r>
                    </a:p>
                    <a:p>
                      <a:pPr algn="l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SMOTE improved model.</a:t>
                      </a:r>
                    </a:p>
                    <a:p>
                      <a:pPr algn="l"/>
                      <a:endParaRPr 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sz="16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based detection</a:t>
                      </a:r>
                    </a:p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outperforms rule-based system in</a:t>
                      </a:r>
                    </a:p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terms of adaptability.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77556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05902E0-5D79-3649-B69B-976D6C8B2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816274"/>
            <a:ext cx="434470" cy="4649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25E3E2-8195-BDB1-4CAD-992A6871F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496" y="2739588"/>
            <a:ext cx="472581" cy="4116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E1A6D2E-A64E-B4FB-20C8-F5D5D19263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607" y="3493386"/>
            <a:ext cx="426847" cy="4268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815D847-790D-A035-EA9B-BEB1230F10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229" y="4374698"/>
            <a:ext cx="419225" cy="434470"/>
          </a:xfrm>
          <a:prstGeom prst="rect">
            <a:avLst/>
          </a:prstGeom>
        </p:spPr>
      </p:pic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FC977C7-31A1-A8D6-58B2-A0923729F6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353711"/>
              </p:ext>
            </p:extLst>
          </p:nvPr>
        </p:nvGraphicFramePr>
        <p:xfrm>
          <a:off x="4294312" y="1268760"/>
          <a:ext cx="4392488" cy="154406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392488">
                  <a:extLst>
                    <a:ext uri="{9D8B030D-6E8A-4147-A177-3AD203B41FA5}">
                      <a16:colId xmlns:a16="http://schemas.microsoft.com/office/drawing/2014/main" val="48131838"/>
                    </a:ext>
                  </a:extLst>
                </a:gridCol>
              </a:tblGrid>
              <a:tr h="154406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Conclusion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AI Based Digital Payment Fraud Detection 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System is effective in identifying fraudulent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transaction with high accuracy and reliability.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The system enhances payment security and build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customer trust in digital payment platforms.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210729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FF6CBB6E-F8A6-C396-DA43-0C18EDF54E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3968" y="1556792"/>
            <a:ext cx="419225" cy="50307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40EA5A4-FB22-377B-0C3F-109B6D545E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381207"/>
              </p:ext>
            </p:extLst>
          </p:nvPr>
        </p:nvGraphicFramePr>
        <p:xfrm>
          <a:off x="4294312" y="2956843"/>
          <a:ext cx="4392488" cy="2344365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392488">
                  <a:extLst>
                    <a:ext uri="{9D8B030D-6E8A-4147-A177-3AD203B41FA5}">
                      <a16:colId xmlns:a16="http://schemas.microsoft.com/office/drawing/2014/main" val="1430451201"/>
                    </a:ext>
                  </a:extLst>
                </a:gridCol>
              </a:tblGrid>
              <a:tr h="234436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Outcomes</a:t>
                      </a:r>
                    </a:p>
                    <a:p>
                      <a:pPr algn="l"/>
                      <a:r>
                        <a:rPr lang="en-US" sz="16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Accurate detection of fraudulent</a:t>
                      </a:r>
                    </a:p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transaction using ML Algorithms.</a:t>
                      </a:r>
                    </a:p>
                    <a:p>
                      <a:pPr algn="l"/>
                      <a:r>
                        <a:rPr lang="en-US" sz="14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</a:t>
                      </a:r>
                    </a:p>
                    <a:p>
                      <a:pPr algn="l"/>
                      <a:r>
                        <a:rPr lang="en-US" sz="14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 False Alarms and improve system </a:t>
                      </a:r>
                    </a:p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efficiency.</a:t>
                      </a:r>
                    </a:p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</a:t>
                      </a:r>
                    </a:p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The system is scalable and can handle</a:t>
                      </a:r>
                    </a:p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large volume of  transactions.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9862954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58F750B8-38C9-384A-7C0F-1F99017386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4312" y="3188517"/>
            <a:ext cx="597734" cy="54499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E4B25B5-C57E-874F-CD33-CEDCCC1E4C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4312" y="3847693"/>
            <a:ext cx="597734" cy="54499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98D49E4-52BF-CA4D-B51E-8615EF595C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4312" y="4541059"/>
            <a:ext cx="597734" cy="544992"/>
          </a:xfrm>
          <a:prstGeom prst="rect">
            <a:avLst/>
          </a:prstGeom>
        </p:spPr>
      </p:pic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EB161410-A22E-CEA4-71C2-2BF9E764D6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7046848"/>
              </p:ext>
            </p:extLst>
          </p:nvPr>
        </p:nvGraphicFramePr>
        <p:xfrm>
          <a:off x="539552" y="5418712"/>
          <a:ext cx="8147248" cy="1106631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147248">
                  <a:extLst>
                    <a:ext uri="{9D8B030D-6E8A-4147-A177-3AD203B41FA5}">
                      <a16:colId xmlns:a16="http://schemas.microsoft.com/office/drawing/2014/main" val="2959166848"/>
                    </a:ext>
                  </a:extLst>
                </a:gridCol>
              </a:tblGrid>
              <a:tr h="110663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F0"/>
                          </a:solidFill>
                        </a:rPr>
                        <a:t>Future Scope and Suggestions</a:t>
                      </a:r>
                    </a:p>
                    <a:p>
                      <a:pPr algn="l"/>
                      <a:r>
                        <a:rPr lang="en-US" dirty="0">
                          <a:solidFill>
                            <a:srgbClr val="00B0F0"/>
                          </a:solidFill>
                        </a:rPr>
                        <a:t>     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               Real time                Biometric                      Continuous</a:t>
                      </a:r>
                    </a:p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Models                             integration              Authentication             Learning </a:t>
                      </a:r>
                      <a:endParaRPr lang="en-US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475203"/>
                  </a:ext>
                </a:extLst>
              </a:tr>
            </a:tbl>
          </a:graphicData>
        </a:graphic>
      </p:graphicFrame>
      <p:pic>
        <p:nvPicPr>
          <p:cNvPr id="21" name="Picture 20">
            <a:extLst>
              <a:ext uri="{FF2B5EF4-FFF2-40B4-BE49-F238E27FC236}">
                <a16:creationId xmlns:a16="http://schemas.microsoft.com/office/drawing/2014/main" id="{660349F7-0C7A-2160-3FBD-769DEEB97C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552" y="5785774"/>
            <a:ext cx="464959" cy="49544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5C4FE2A-E619-1C01-041F-F288DE664FC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43077" y="5770127"/>
            <a:ext cx="495448" cy="52593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A5B1745-9FC8-C535-D9DF-7DD31EA2B15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05576" y="5780619"/>
            <a:ext cx="388736" cy="59453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D7040F7-B3EF-67C2-A50F-3936E5DC98E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91970" y="5785372"/>
            <a:ext cx="327758" cy="51069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C541497-EFF3-16C7-1496-782586BABF2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9552" y="404843"/>
            <a:ext cx="640271" cy="647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224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7086F-4963-401C-8024-DC384E478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5687D-C4BB-4170-8738-C54F5060FC5B}" type="slidenum">
              <a:rPr lang="en-IN" smtClean="0"/>
              <a:pPr/>
              <a:t>9</a:t>
            </a:fld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FE2826-033A-4FB5-A6BF-66F5174614E8}"/>
              </a:ext>
            </a:extLst>
          </p:cNvPr>
          <p:cNvSpPr txBox="1"/>
          <p:nvPr/>
        </p:nvSpPr>
        <p:spPr>
          <a:xfrm>
            <a:off x="457200" y="1124744"/>
            <a:ext cx="8061553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IN"/>
            </a:defPPr>
            <a:lvl1pPr marL="2857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742950" indent="-28575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Courier New" panose="02070309020205020404" pitchFamily="49" charset="0"/>
              <a:buChar char="o"/>
              <a:defRPr sz="1800">
                <a:latin typeface="+mn-lt"/>
              </a:defRPr>
            </a:lvl2pPr>
            <a:lvl3pPr marL="11430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16002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70000"/>
              <a:buFont typeface="Wingdings" panose="05000000000000000000" pitchFamily="2" charset="2"/>
              <a:buChar char="q"/>
              <a:defRPr sz="1800">
                <a:latin typeface="+mn-lt"/>
              </a:defRPr>
            </a:lvl4pPr>
            <a:lvl5pPr marL="2057400" indent="-228600" eaLnBrk="1" hangingPunct="1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»"/>
              <a:defRPr sz="1800">
                <a:latin typeface="+mn-lt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Fraud Detection Dataset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Sci-kit Learn Documentation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Documentation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Framework Documentation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Documentation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Hands-On Machine Learning with Scikit-Learn,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TensorFlow,O’Reilly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for Data Analysis, O’Reilly Media, 2022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Machine Learning with Python, O’Reilly Media, 2016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Postman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6E453C-8F12-2B3C-3B56-48D364378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332656"/>
            <a:ext cx="6336704" cy="590697"/>
          </a:xfrm>
        </p:spPr>
        <p:txBody>
          <a:bodyPr/>
          <a:lstStyle/>
          <a:p>
            <a:pPr lvl="0" algn="ctr"/>
            <a:r>
              <a:rPr lang="en-IN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4036159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3;p2">
            <a:extLst>
              <a:ext uri="{FF2B5EF4-FFF2-40B4-BE49-F238E27FC236}">
                <a16:creationId xmlns:a16="http://schemas.microsoft.com/office/drawing/2014/main" id="{3DD7C0C0-A7FD-2BB3-90E2-FE1B8DA63372}"/>
              </a:ext>
            </a:extLst>
          </p:cNvPr>
          <p:cNvSpPr txBox="1"/>
          <p:nvPr/>
        </p:nvSpPr>
        <p:spPr>
          <a:xfrm>
            <a:off x="971600" y="3140968"/>
            <a:ext cx="6431542" cy="8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sz="2400" b="0" i="0" u="none" strike="noStrike" baseline="0" dirty="0">
                <a:solidFill>
                  <a:srgbClr val="FFFFFF"/>
                </a:solidFill>
                <a:latin typeface="Montserrat-Thin"/>
              </a:rPr>
              <a:t>THANK YOU</a:t>
            </a:r>
            <a:endParaRPr lang="en-US" sz="3200" dirty="0">
              <a:solidFill>
                <a:schemeClr val="bg1"/>
              </a:solidFill>
              <a:latin typeface="Montserrat Medium" panose="00000600000000000000" pitchFamily="2" charset="0"/>
              <a:ea typeface="Verdana" pitchFamily="34" charset="0"/>
              <a:cs typeface="Verdana" pitchFamily="34" charset="0"/>
              <a:sym typeface="Libre Baskerville"/>
            </a:endParaRPr>
          </a:p>
        </p:txBody>
      </p:sp>
    </p:spTree>
    <p:extLst>
      <p:ext uri="{BB962C8B-B14F-4D97-AF65-F5344CB8AC3E}">
        <p14:creationId xmlns:p14="http://schemas.microsoft.com/office/powerpoint/2010/main" val="24266712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a7f5b1cd31814dfdcfe7e01dfa8a4c631a2d342"/>
</p:tagLst>
</file>

<file path=ppt/theme/theme1.xml><?xml version="1.0" encoding="utf-8"?>
<a:theme xmlns:a="http://schemas.openxmlformats.org/drawingml/2006/main" name="Theme2">
  <a:themeElements>
    <a:clrScheme name="Custom 2">
      <a:dk1>
        <a:sysClr val="windowText" lastClr="000000"/>
      </a:dk1>
      <a:lt1>
        <a:srgbClr val="FFFFFF"/>
      </a:lt1>
      <a:dk2>
        <a:srgbClr val="FFFFFF"/>
      </a:dk2>
      <a:lt2>
        <a:srgbClr val="EEECE1"/>
      </a:lt2>
      <a:accent1>
        <a:srgbClr val="4F81BD"/>
      </a:accent1>
      <a:accent2>
        <a:srgbClr val="C0504D"/>
      </a:accent2>
      <a:accent3>
        <a:srgbClr val="F79646"/>
      </a:accent3>
      <a:accent4>
        <a:srgbClr val="8064A2"/>
      </a:accent4>
      <a:accent5>
        <a:srgbClr val="4BACC6"/>
      </a:accent5>
      <a:accent6>
        <a:srgbClr val="FAC08F"/>
      </a:accent6>
      <a:hlink>
        <a:srgbClr val="0000FF"/>
      </a:hlink>
      <a:folHlink>
        <a:srgbClr val="800080"/>
      </a:folHlink>
    </a:clrScheme>
    <a:fontScheme name="Case Study COL22">
      <a:majorFont>
        <a:latin typeface="Montserrat Semi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" id="{625E818F-FC5C-4F0C-BABD-8DA80A61B35B}" vid="{D5BE1DD0-2456-4759-B7C6-3E5FA9AF9FE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3146</TotalTime>
  <Words>1118</Words>
  <Application>Microsoft Office PowerPoint</Application>
  <PresentationFormat>On-screen Show (4:3)</PresentationFormat>
  <Paragraphs>260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Courier New</vt:lpstr>
      <vt:lpstr>Montserrat</vt:lpstr>
      <vt:lpstr>Montserrat Medium</vt:lpstr>
      <vt:lpstr>Montserrat-Thin</vt:lpstr>
      <vt:lpstr>Times New Roman</vt:lpstr>
      <vt:lpstr>Wingdings</vt:lpstr>
      <vt:lpstr>Theme2</vt:lpstr>
      <vt:lpstr>PowerPoint Presentation</vt:lpstr>
      <vt:lpstr>Introduction: </vt:lpstr>
      <vt:lpstr>     Objective, Scope, and Purpose of Study: </vt:lpstr>
      <vt:lpstr>         Literature Review </vt:lpstr>
      <vt:lpstr>SYSTEM DESIGN</vt:lpstr>
      <vt:lpstr>Data Collection and Analysis </vt:lpstr>
      <vt:lpstr>Findings and Interpretation</vt:lpstr>
      <vt:lpstr>Conclusions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INTEL</dc:creator>
  <cp:lastModifiedBy>Gupta, Muskan AVL/IN</cp:lastModifiedBy>
  <cp:revision>323</cp:revision>
  <dcterms:created xsi:type="dcterms:W3CDTF">2020-04-27T11:11:39Z</dcterms:created>
  <dcterms:modified xsi:type="dcterms:W3CDTF">2026-05-21T19:21:22Z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1075092-e835-4209-8938-695d786e0591_Enabled">
    <vt:lpwstr>true</vt:lpwstr>
  </property>
  <property fmtid="{D5CDD505-2E9C-101B-9397-08002B2CF9AE}" pid="3" name="MSIP_Label_61075092-e835-4209-8938-695d786e0591_SetDate">
    <vt:lpwstr>2026-05-20T18:10:53Z</vt:lpwstr>
  </property>
  <property fmtid="{D5CDD505-2E9C-101B-9397-08002B2CF9AE}" pid="4" name="MSIP_Label_61075092-e835-4209-8938-695d786e0591_Method">
    <vt:lpwstr>Standard</vt:lpwstr>
  </property>
  <property fmtid="{D5CDD505-2E9C-101B-9397-08002B2CF9AE}" pid="5" name="MSIP_Label_61075092-e835-4209-8938-695d786e0591_Name">
    <vt:lpwstr>internal</vt:lpwstr>
  </property>
  <property fmtid="{D5CDD505-2E9C-101B-9397-08002B2CF9AE}" pid="6" name="MSIP_Label_61075092-e835-4209-8938-695d786e0591_SiteId">
    <vt:lpwstr>b4bc7e59-9a34-4622-ab54-d7a1a680f47a</vt:lpwstr>
  </property>
  <property fmtid="{D5CDD505-2E9C-101B-9397-08002B2CF9AE}" pid="7" name="MSIP_Label_61075092-e835-4209-8938-695d786e0591_ActionId">
    <vt:lpwstr>d3811b17-debf-43c9-8ffe-256c1b80dc98</vt:lpwstr>
  </property>
  <property fmtid="{D5CDD505-2E9C-101B-9397-08002B2CF9AE}" pid="8" name="MSIP_Label_61075092-e835-4209-8938-695d786e0591_ContentBits">
    <vt:lpwstr>0</vt:lpwstr>
  </property>
  <property fmtid="{D5CDD505-2E9C-101B-9397-08002B2CF9AE}" pid="9" name="MSIP_Label_61075092-e835-4209-8938-695d786e0591_Tag">
    <vt:lpwstr>10, 3, 0, 1</vt:lpwstr>
  </property>
</Properties>
</file>